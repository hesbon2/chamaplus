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2932" autoAdjust="0"/>
  </p:normalViewPr>
  <p:slideViewPr>
    <p:cSldViewPr snapToGrid="0" snapToObjects="1">
      <p:cViewPr varScale="1">
        <p:scale>
          <a:sx n="93" d="100"/>
          <a:sy n="93" d="100"/>
        </p:scale>
        <p:origin x="2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404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seconds</a:t>
            </a:r>
          </a:p>
          <a:p>
            <a:endParaRPr/>
          </a:p>
          <a:p>
            <a:r>
              <a:t>WHAT TO SAY:</a:t>
            </a:r>
          </a:p>
          <a:p>
            <a:r>
              <a:t>Good morning/afternoon, Chairperson, panel members, my supervisor, and everyone present.</a:t>
            </a:r>
          </a:p>
          <a:p>
            <a:endParaRPr/>
          </a:p>
          <a:p>
            <a:r>
              <a:t>My name is Edna Kemunto Bitange, registration number BBIT/2023/41222, from the School of Computing and Informatics, Department of Enterprise Computing, Mount Kenya University.</a:t>
            </a:r>
          </a:p>
          <a:p>
            <a:endParaRPr/>
          </a:p>
          <a:p>
            <a:r>
              <a:t>Today I present my final-year project: ChamaPlus — a Credit-Aware Decision Support Platform for Informal Savings Groups in Kenya.</a:t>
            </a:r>
          </a:p>
          <a:p>
            <a:endParaRPr/>
          </a:p>
          <a:p>
            <a:r>
              <a:t>ChamaPlus is a mobile platform that brings together membership, savings, lending, governance, reporting and credit-related decision support. The goal was not simply to replace a notebook with an app, but to create an integrated system that organizes chama activities and supports the people responsible for managing them.</a:t>
            </a:r>
          </a:p>
          <a:p>
            <a:endParaRPr/>
          </a:p>
          <a:p>
            <a:r>
              <a:t>I will explain the problem, the proposed solution and its design, then demonstrate the actual system.</a:t>
            </a:r>
          </a:p>
          <a:p>
            <a:endParaRPr/>
          </a:p>
          <a:p>
            <a:r>
              <a:t>TRANSITION: To understand ChamaPlus, I begin with the environment in which the problem occurs.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a:t>
            </a:r>
          </a:p>
          <a:p>
            <a:endParaRPr/>
          </a:p>
          <a:p>
            <a:r>
              <a:t>WHAT TO SAY:</a:t>
            </a:r>
          </a:p>
          <a:p>
            <a:r>
              <a:t>Informal savings groups — chamas — are an important mechanism for collective saving, borrowing and financial cooperation in Kenya.</a:t>
            </a:r>
          </a:p>
          <a:p>
            <a:endParaRPr/>
          </a:p>
          <a:p>
            <a:r>
              <a:t>As a group becomes more active, the information to manage grows: members, roles, contribution cycles, loans, repayments, meetings, attendance, decisions and reports.</a:t>
            </a:r>
          </a:p>
          <a:p>
            <a:endParaRPr/>
          </a:p>
          <a:p>
            <a:r>
              <a:t>The challenge is fragmentation. Records may sit in notebooks, spreadsheets and messaging apps. That makes it hard to answer: Who contributed? What is the loan position? Who owes repayments? What is the chama's financial position?</a:t>
            </a:r>
          </a:p>
          <a:p>
            <a:endParaRPr/>
          </a:p>
          <a:p>
            <a:r>
              <a:t>The opportunity is a single mobile environment where related activities are managed and connected — with human decision-making still at the centre.</a:t>
            </a:r>
          </a:p>
          <a:p>
            <a:endParaRPr/>
          </a:p>
          <a:p>
            <a:r>
              <a:t>TRANSITION: From that context, what specific problem and gap does ChamaPlus address?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a:t>
            </a:r>
          </a:p>
          <a:p>
            <a:endParaRPr/>
          </a:p>
          <a:p>
            <a:r>
              <a:t>WHAT TO SAY:</a:t>
            </a:r>
          </a:p>
          <a:p>
            <a:r>
              <a:t>The problem is broader than the absence of a mobile app.</a:t>
            </a:r>
          </a:p>
          <a:p>
            <a:endParaRPr/>
          </a:p>
          <a:p>
            <a:r>
              <a:t>Membership and contribution records can be fragmented. Loan monitoring is difficult when records are separate. Reports are manual and slow. Committee processes have limited visibility. Role separation is weak. Lending decisions lack structured support information.</a:t>
            </a:r>
          </a:p>
          <a:p>
            <a:endParaRPr/>
          </a:p>
          <a:p>
            <a:r>
              <a:t>I am not claiming no digital chama tools exist. The gap is an integrated mobile environment connecting membership, savings, lending, governance, credit support and reporting.</a:t>
            </a:r>
          </a:p>
          <a:p>
            <a:endParaRPr/>
          </a:p>
          <a:p>
            <a:r>
              <a:t>ChamaPlus is therefore an integrated information and decision-support platform — not a single-purpose contribution tracker.</a:t>
            </a:r>
          </a:p>
          <a:p>
            <a:endParaRPr/>
          </a:p>
          <a:p>
            <a:r>
              <a:t>TRANSITION: The project was guided by three objectives.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seconds</a:t>
            </a:r>
          </a:p>
          <a:p>
            <a:endParaRPr/>
          </a:p>
          <a:p>
            <a:r>
              <a:t>WHAT TO SAY:</a:t>
            </a:r>
          </a:p>
          <a:p>
            <a:r>
              <a:t>Objective 1: Investigate challenges in manual and semi-digital chama management — so features address real problems.</a:t>
            </a:r>
          </a:p>
          <a:p>
            <a:endParaRPr/>
          </a:p>
          <a:p>
            <a:r>
              <a:t>Objective 2: Design and develop an integrated mobile platform for membership, contributions, loans, governance, reporting and credit-aware decision support — the main development scope.</a:t>
            </a:r>
          </a:p>
          <a:p>
            <a:endParaRPr/>
          </a:p>
          <a:p>
            <a:r>
              <a:t>Objective 3: Test and evaluate functionality, reliability and usability — the project is not complete just because code exists; it must be validated.</a:t>
            </a:r>
          </a:p>
          <a:p>
            <a:endParaRPr/>
          </a:p>
          <a:p>
            <a:r>
              <a:t>These objectives link the problem, solution and evaluation.</a:t>
            </a:r>
          </a:p>
          <a:p>
            <a:endParaRPr/>
          </a:p>
          <a:p>
            <a:r>
              <a:t>TRANSITION: The solution is the ChamaPlus integrated platform.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a:t>
            </a:r>
          </a:p>
          <a:p>
            <a:endParaRPr/>
          </a:p>
          <a:p>
            <a:r>
              <a:t>WHAT TO SAY:</a:t>
            </a:r>
          </a:p>
          <a:p>
            <a:r>
              <a:t>ChamaPlus connects six functional areas: membership; savings (cycles and history); lending (products, applications, voting, repayments); governance (meetings, attendance, minutes); decision support (advisory credit view); and visibility (dashboards, notifications, reports).</a:t>
            </a:r>
          </a:p>
          <a:p>
            <a:endParaRPr/>
          </a:p>
          <a:p>
            <a:r>
              <a:t>The value is in the connections. A member's contributions and later loan activity share the same identity. A loan involves application, committee review, disbursement and repayment — not one isolated transaction.</a:t>
            </a:r>
          </a:p>
          <a:p>
            <a:endParaRPr/>
          </a:p>
          <a:p>
            <a:r>
              <a:t>That integration is what makes this more than unrelated CRUD screens.</a:t>
            </a:r>
          </a:p>
          <a:p>
            <a:endParaRPr/>
          </a:p>
          <a:p>
            <a:r>
              <a:t>TRANSITION: One distinctive element is the credit-aware component.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~55 seconds — LIKELY PANEL QUESTION</a:t>
            </a:r>
          </a:p>
          <a:p>
            <a:endParaRPr/>
          </a:p>
          <a:p>
            <a:r>
              <a:t>WHAT TO SAY:</a:t>
            </a:r>
          </a:p>
          <a:p>
            <a:r>
              <a:t>Credit-aware means the system uses recorded activity to produce an advisory score: contribution consistency 35%, repayment history 35%, attendance 15%, membership duration 15%.</a:t>
            </a:r>
          </a:p>
          <a:p>
            <a:endParaRPr/>
          </a:p>
          <a:p>
            <a:r>
              <a:t>Critical principle: the score does NOT automatically approve or reject a loan.</a:t>
            </a:r>
          </a:p>
          <a:p>
            <a:endParaRPr/>
          </a:p>
          <a:p>
            <a:r>
              <a:t>Flow: member activity → scoring model → advisory score → committee review → final decision.</a:t>
            </a:r>
          </a:p>
          <a:p>
            <a:endParaRPr/>
          </a:p>
          <a:p>
            <a:r>
              <a:t>The score supports the committee; it does not replace human governance. A score only reflects data in the system.</a:t>
            </a:r>
          </a:p>
          <a:p>
            <a:endParaRPr/>
          </a:p>
          <a:p>
            <a:r>
              <a:t>PANEL-READY LINE: "The system provides evidence for a decision; it does not make the decision on behalf of the chama."</a:t>
            </a:r>
          </a:p>
          <a:p>
            <a:endParaRPr/>
          </a:p>
          <a:p>
            <a:r>
              <a:t>TRANSITION: This required a maintainable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a:t>
            </a:r>
          </a:p>
          <a:p>
            <a:endParaRPr/>
          </a:p>
          <a:p>
            <a:r>
              <a:t>WHAT TO SAY:</a:t>
            </a:r>
          </a:p>
          <a:p>
            <a:r>
              <a:t>ChamaPlus uses client-server architecture.</a:t>
            </a:r>
          </a:p>
          <a:p>
            <a:endParaRPr/>
          </a:p>
          <a:p>
            <a:r>
              <a:t>Presentation layer: Flutter mobile app (Dart, Riverpod, GoRouter, feature-based modules).</a:t>
            </a:r>
          </a:p>
          <a:p>
            <a:endParaRPr/>
          </a:p>
          <a:p>
            <a:r>
              <a:t>Application layer: Django REST Framework — authentication, permissions, business rules, APIs.</a:t>
            </a:r>
          </a:p>
          <a:p>
            <a:endParaRPr/>
          </a:p>
          <a:p>
            <a:r>
              <a:t>Data layer: MySQL — users, memberships, contributions, loans, governance, reports.</a:t>
            </a:r>
          </a:p>
          <a:p>
            <a:endParaRPr/>
          </a:p>
          <a:p>
            <a:r>
              <a:t>Implemented backend: 12 Django apps, 17 domain tables, 78 business endpoints.</a:t>
            </a:r>
          </a:p>
          <a:p>
            <a:endParaRPr/>
          </a:p>
          <a:p>
            <a:r>
              <a:t>The mobile app does not touch the database directly. Requests go through the API where auth and business rules apply — supporting security and maintainability.</a:t>
            </a:r>
          </a:p>
          <a:p>
            <a:endParaRPr/>
          </a:p>
          <a:p>
            <a:r>
              <a:t>TRANSITION: How was the project developed?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a:t>
            </a:r>
          </a:p>
          <a:p>
            <a:endParaRPr/>
          </a:p>
          <a:p>
            <a:r>
              <a:t>WHAT TO SAY:</a:t>
            </a:r>
          </a:p>
          <a:p>
            <a:r>
              <a:t>Two methodological levels — do not confuse them.</a:t>
            </a:r>
          </a:p>
          <a:p>
            <a:endParaRPr/>
          </a:p>
          <a:p>
            <a:r>
              <a:t>Research: applied design-and-development research — identify problem, design solution, build artefact, evaluate prototype.</a:t>
            </a:r>
          </a:p>
          <a:p>
            <a:endParaRPr/>
          </a:p>
          <a:p>
            <a:r>
              <a:t>Software development: Agile iterative and incremental — NOT formal Scrum (no sprints, Product Owner, daily stand-ups).</a:t>
            </a:r>
          </a:p>
          <a:p>
            <a:endParaRPr/>
          </a:p>
          <a:p>
            <a:r>
              <a:t>Cycle: requirements → design → implement → test → refine → next increment.</a:t>
            </a:r>
          </a:p>
          <a:p>
            <a:endParaRPr/>
          </a:p>
          <a:p>
            <a:r>
              <a:t>Authentication and membership came first; contributions and loans built on that foundation. Testing ran throughout, not only at the end.</a:t>
            </a:r>
          </a:p>
          <a:p>
            <a:endParaRPr/>
          </a:p>
          <a:p>
            <a:r>
              <a:t>TRANSITION: Here is what was actually implemented.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a:t>
            </a:r>
          </a:p>
          <a:p>
            <a:endParaRPr/>
          </a:p>
          <a:p>
            <a:r>
              <a:t>WHAT TO SAY:</a:t>
            </a:r>
          </a:p>
          <a:p>
            <a:r>
              <a:t>Implemented: authentication and onboarding; financial operations (contributions, loans, voting, repayments); governance and notifications; credit scoring, dashboards, reports and exports.</a:t>
            </a:r>
          </a:p>
          <a:p>
            <a:endParaRPr/>
          </a:p>
          <a:p>
            <a:r>
              <a:t>Not in prototype: direct M-Pesa/payment gateway, direct SMS/email providers, full web admin portal, national production deployment.</a:t>
            </a:r>
          </a:p>
          <a:p>
            <a:endParaRPr/>
          </a:p>
          <a:p>
            <a:r>
              <a:t>Academically, I separate implemented scope from future work. The demo shows the prototype — not every possible financial feature.</a:t>
            </a:r>
          </a:p>
          <a:p>
            <a:endParaRPr/>
          </a:p>
          <a:p>
            <a:r>
              <a:t>TRANSITION: Was it tested?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~50 seconds — BE TRANSPARENT</a:t>
            </a:r>
          </a:p>
          <a:p>
            <a:endParaRPr/>
          </a:p>
          <a:p>
            <a:r>
              <a:t>WHAT TO SAY:</a:t>
            </a:r>
          </a:p>
          <a:p>
            <a:r>
              <a:t>Backend: 124 automated tests. Mobile: 244 automated tests. Plus 15 representative functional test cases.</a:t>
            </a:r>
          </a:p>
          <a:p>
            <a:endParaRPr/>
          </a:p>
          <a:p>
            <a:r>
              <a:t>Final result: 243 of 244 mobile tests passed. One non-core report-export formatting test failed.</a:t>
            </a:r>
          </a:p>
          <a:p>
            <a:endParaRPr/>
          </a:p>
          <a:p>
            <a:r>
              <a:t>Core workflows in the functional test cases passed. I report this honestly rather than claiming 100% success.</a:t>
            </a:r>
          </a:p>
          <a:p>
            <a:endParaRPr/>
          </a:p>
          <a:p>
            <a:r>
              <a:t>IF ASKED "Why not fix the last test?": It was isolated to export formatting, not core financial, auth or membership workflows. Recorded transparently in the report.</a:t>
            </a:r>
          </a:p>
          <a:p>
            <a:endParaRPr/>
          </a:p>
          <a:p>
            <a:r>
              <a:t>TRANSITION: Three main contributions.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seconds</a:t>
            </a:r>
          </a:p>
          <a:p>
            <a:endParaRPr/>
          </a:p>
          <a:p>
            <a:r>
              <a:t>WHAT TO SAY:</a:t>
            </a:r>
          </a:p>
          <a:p>
            <a:r>
              <a:t>Contribution 1 — Operational integration: one mobile environment for membership, savings, lending, governance and reporting.</a:t>
            </a:r>
          </a:p>
          <a:p>
            <a:endParaRPr/>
          </a:p>
          <a:p>
            <a:r>
              <a:t>Contribution 2 — Decision support: advisory credit view from contribution, repayment, attendance and membership data — committee retains authority.</a:t>
            </a:r>
          </a:p>
          <a:p>
            <a:endParaRPr/>
          </a:p>
          <a:p>
            <a:r>
              <a:t>Contribution 3 — Controlled access: authentication and role-based permissions for financial and admin functions.</a:t>
            </a:r>
          </a:p>
          <a:p>
            <a:endParaRPr/>
          </a:p>
          <a:p>
            <a:r>
              <a:t>The contribution is the integration into a single decision-support environment — not one feature in isolation.</a:t>
            </a:r>
          </a:p>
          <a:p>
            <a:endParaRPr/>
          </a:p>
          <a:p>
            <a:r>
              <a:t>IF ASKED "What is innovative?": Not inventing digital savings, but integrating chama lifecycle modules with credit-aware support while retaining human committee authority.</a:t>
            </a:r>
          </a:p>
          <a:p>
            <a:endParaRPr/>
          </a:p>
          <a:p>
            <a:r>
              <a:t>TRANSITION: From explanation to the live product.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~30 seconds then OPEN APP</a:t>
            </a:r>
          </a:p>
          <a:p>
            <a:endParaRPr/>
          </a:p>
          <a:p>
            <a:r>
              <a:t>WHAT TO SAY:</a:t>
            </a:r>
          </a:p>
          <a:p>
            <a:r>
              <a:t>I have walked through the problem, gap, objectives, solution, credit-aware design, architecture, methodology, scope, testing and contribution.</a:t>
            </a:r>
          </a:p>
          <a:p>
            <a:endParaRPr/>
          </a:p>
          <a:p>
            <a:r>
              <a:t>Having established that foundation, I now demonstrate ChamaPlus and show how these design decisions appear in practice.</a:t>
            </a:r>
          </a:p>
          <a:p>
            <a:endParaRPr/>
          </a:p>
          <a:p>
            <a:r>
              <a:t>[OPEN CHAMAPLUS APPLICATION]</a:t>
            </a:r>
          </a:p>
          <a:p>
            <a:endParaRPr/>
          </a:p>
          <a:p>
            <a:r>
              <a:t>DEMO ORDER (~8–12 minutes after slides):</a:t>
            </a:r>
          </a:p>
          <a:p>
            <a:r>
              <a:t>1. Login → dashboard — "Authentication governs all subsequent access."</a:t>
            </a:r>
          </a:p>
          <a:p>
            <a:r>
              <a:t>2. Chama / members / roles — "Users operate within a chama context."</a:t>
            </a:r>
          </a:p>
          <a:p>
            <a:r>
              <a:t>3. Contributions — cycle → record → history</a:t>
            </a:r>
          </a:p>
          <a:p>
            <a:r>
              <a:t>4. Loans — product → application → voting → repayment</a:t>
            </a:r>
          </a:p>
          <a:p>
            <a:r>
              <a:t>5. Credit score — EMPHASIZE: advisory only, committee decides</a:t>
            </a:r>
          </a:p>
          <a:p>
            <a:r>
              <a:t>6. Governance — meeting → attendance → minutes</a:t>
            </a:r>
          </a:p>
          <a:p>
            <a:r>
              <a:t>7. Dashboard / reports — monitoring and summaries</a:t>
            </a:r>
          </a:p>
          <a:p>
            <a:endParaRPr/>
          </a:p>
          <a:p>
            <a:r>
              <a:t>MEMORIZE THE STORY ARC:</a:t>
            </a:r>
          </a:p>
          <a:p>
            <a:r>
              <a:t>Problem → Fragmentation → Integration gap → ChamaPlus → Credit-aware (not autonomous) → Architecture → Agile build → Implemented scope → Test evidence → Contribution → LIVE DEMO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BACKUP SLIDE (Slide 13) — skip unless live demo fails.</a:t>
            </a:r>
          </a:p>
          <a:p>
            <a:endParaRPr/>
          </a:p>
          <a:p>
            <a:r>
              <a:t>Left: implemented Login screen. Right: Home dashboard after authentication.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panose="02020603050405020304" pitchFamily="18" charset="0"/>
              </a:defRPr>
            </a:lvl1pPr>
          </a:lstStyle>
          <a:p>
            <a:fld id="{5BCAD085-E8A6-8845-BD4E-CB4CCA059FC4}" type="datetimeFigureOut">
              <a:rPr lang="en-US" smtClean="0"/>
              <a:pPr/>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panose="02020603050405020304"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panose="02020603050405020304" pitchFamily="18" charset="0"/>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panose="02020603050405020304" pitchFamily="18" charset="0"/>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panose="02020603050405020304"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Times" panose="02020603050405020304"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Times" panose="02020603050405020304"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Times" panose="02020603050405020304"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Times" panose="02020603050405020304"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panose="02020603050405020304" pitchFamily="18" charset="0"/>
            </a:endParaRPr>
          </a:p>
        </p:txBody>
      </p:sp>
      <p:sp>
        <p:nvSpPr>
          <p:cNvPr id="3" name="Rectangle 2"/>
          <p:cNvSpPr/>
          <p:nvPr/>
        </p:nvSpPr>
        <p:spPr>
          <a:xfrm>
            <a:off x="0" y="0"/>
            <a:ext cx="201168" cy="68580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imes" panose="02020603050405020304" pitchFamily="18" charset="0"/>
            </a:endParaRPr>
          </a:p>
        </p:txBody>
      </p:sp>
      <p:sp>
        <p:nvSpPr>
          <p:cNvPr id="4" name="TextBox 3"/>
          <p:cNvSpPr txBox="1"/>
          <p:nvPr/>
        </p:nvSpPr>
        <p:spPr>
          <a:xfrm>
            <a:off x="731520" y="1143000"/>
            <a:ext cx="10698480" cy="2000548"/>
          </a:xfrm>
          <a:prstGeom prst="rect">
            <a:avLst/>
          </a:prstGeom>
          <a:noFill/>
        </p:spPr>
        <p:txBody>
          <a:bodyPr wrap="square">
            <a:spAutoFit/>
          </a:bodyPr>
          <a:lstStyle/>
          <a:p>
            <a:r>
              <a:rPr sz="4400" b="1" dirty="0">
                <a:solidFill>
                  <a:srgbClr val="192D4B"/>
                </a:solidFill>
                <a:latin typeface="Times" panose="02020603050405020304" pitchFamily="18" charset="0"/>
              </a:rPr>
              <a:t>CHAMAPLUS</a:t>
            </a:r>
          </a:p>
          <a:p>
            <a:r>
              <a:rPr sz="2800" dirty="0">
                <a:solidFill>
                  <a:srgbClr val="23282D"/>
                </a:solidFill>
                <a:latin typeface="Times" panose="02020603050405020304" pitchFamily="18" charset="0"/>
              </a:rPr>
              <a:t>A Credit-Aware Decision Support Platform for Informal Savings Groups in Kenya</a:t>
            </a:r>
          </a:p>
          <a:p>
            <a:r>
              <a:rPr sz="2400" b="1" dirty="0">
                <a:solidFill>
                  <a:srgbClr val="287878"/>
                </a:solidFill>
                <a:latin typeface="Times" panose="02020603050405020304" pitchFamily="18" charset="0"/>
              </a:rPr>
              <a:t>Project Presentation</a:t>
            </a:r>
          </a:p>
        </p:txBody>
      </p:sp>
      <p:sp>
        <p:nvSpPr>
          <p:cNvPr id="5" name="TextBox 4"/>
          <p:cNvSpPr txBox="1"/>
          <p:nvPr/>
        </p:nvSpPr>
        <p:spPr>
          <a:xfrm>
            <a:off x="777240" y="3886200"/>
            <a:ext cx="3865161" cy="1269578"/>
          </a:xfrm>
          <a:prstGeom prst="rect">
            <a:avLst/>
          </a:prstGeom>
          <a:noFill/>
        </p:spPr>
        <p:txBody>
          <a:bodyPr wrap="none">
            <a:spAutoFit/>
          </a:bodyPr>
          <a:lstStyle/>
          <a:p>
            <a:pPr>
              <a:spcAft>
                <a:spcPts val="500"/>
              </a:spcAft>
              <a:defRPr sz="1600">
                <a:solidFill>
                  <a:srgbClr val="23282D"/>
                </a:solidFill>
              </a:defRPr>
            </a:pPr>
            <a:r>
              <a:rPr>
                <a:latin typeface="Times" panose="02020603050405020304" pitchFamily="18" charset="0"/>
              </a:rPr>
              <a:t>Edna Kemunto Bitange  |  BBIT/2023/41222</a:t>
            </a:r>
          </a:p>
          <a:p>
            <a:pPr>
              <a:spcAft>
                <a:spcPts val="500"/>
              </a:spcAft>
              <a:defRPr sz="1400">
                <a:solidFill>
                  <a:srgbClr val="23282D"/>
                </a:solidFill>
              </a:defRPr>
            </a:pPr>
            <a:r>
              <a:rPr sz="1600">
                <a:latin typeface="Times" panose="02020603050405020304" pitchFamily="18" charset="0"/>
              </a:rPr>
              <a:t>School of Computing and Informatics</a:t>
            </a:r>
          </a:p>
          <a:p>
            <a:pPr>
              <a:spcAft>
                <a:spcPts val="500"/>
              </a:spcAft>
              <a:defRPr sz="1400">
                <a:solidFill>
                  <a:srgbClr val="23282D"/>
                </a:solidFill>
              </a:defRPr>
            </a:pPr>
            <a:r>
              <a:rPr sz="1600">
                <a:latin typeface="Times" panose="02020603050405020304" pitchFamily="18" charset="0"/>
              </a:rPr>
              <a:t>Department of Enterprise Computing</a:t>
            </a:r>
          </a:p>
          <a:p>
            <a:pPr>
              <a:spcAft>
                <a:spcPts val="500"/>
              </a:spcAft>
              <a:defRPr sz="1400">
                <a:solidFill>
                  <a:srgbClr val="23282D"/>
                </a:solidFill>
              </a:defRPr>
            </a:pPr>
            <a:r>
              <a:rPr sz="1600">
                <a:latin typeface="Times" panose="02020603050405020304" pitchFamily="18" charset="0"/>
              </a:rPr>
              <a:t>Mount Kenya University  |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4" name="TextBox 3"/>
          <p:cNvSpPr txBox="1"/>
          <p:nvPr/>
        </p:nvSpPr>
        <p:spPr>
          <a:xfrm>
            <a:off x="594360" y="320040"/>
            <a:ext cx="3762568" cy="646331"/>
          </a:xfrm>
          <a:prstGeom prst="rect">
            <a:avLst/>
          </a:prstGeom>
          <a:noFill/>
        </p:spPr>
        <p:txBody>
          <a:bodyPr wrap="none">
            <a:spAutoFit/>
          </a:bodyPr>
          <a:lstStyle/>
          <a:p>
            <a:pPr algn="just"/>
            <a:r>
              <a:rPr sz="3600" b="1">
                <a:solidFill>
                  <a:srgbClr val="192D4B"/>
                </a:solidFill>
                <a:latin typeface="Times" panose="02020603050405020304" pitchFamily="18" charset="0"/>
              </a:rPr>
              <a:t>1. Project Context</a:t>
            </a:r>
          </a:p>
        </p:txBody>
      </p:sp>
      <p:sp>
        <p:nvSpPr>
          <p:cNvPr id="5" name="TextBox 4"/>
          <p:cNvSpPr txBox="1"/>
          <p:nvPr/>
        </p:nvSpPr>
        <p:spPr>
          <a:xfrm>
            <a:off x="612648" y="841248"/>
            <a:ext cx="2589170" cy="369332"/>
          </a:xfrm>
          <a:prstGeom prst="rect">
            <a:avLst/>
          </a:prstGeom>
          <a:noFill/>
        </p:spPr>
        <p:txBody>
          <a:bodyPr wrap="none">
            <a:spAutoFit/>
          </a:bodyPr>
          <a:lstStyle/>
          <a:p>
            <a:pPr algn="just"/>
            <a:r>
              <a:rPr>
                <a:solidFill>
                  <a:srgbClr val="69737D"/>
                </a:solidFill>
                <a:latin typeface="Times" panose="02020603050405020304" pitchFamily="18" charset="0"/>
              </a:rPr>
              <a:t>Why this problem matters</a:t>
            </a:r>
          </a:p>
        </p:txBody>
      </p:sp>
      <p:sp>
        <p:nvSpPr>
          <p:cNvPr id="6" name="Rounded Rectangle 5"/>
          <p:cNvSpPr/>
          <p:nvPr/>
        </p:nvSpPr>
        <p:spPr>
          <a:xfrm>
            <a:off x="685800" y="1417320"/>
            <a:ext cx="3429000" cy="338328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7" name="Rectangle 6"/>
          <p:cNvSpPr/>
          <p:nvPr/>
        </p:nvSpPr>
        <p:spPr>
          <a:xfrm>
            <a:off x="685800" y="1417320"/>
            <a:ext cx="73152" cy="338328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8" name="TextBox 7"/>
          <p:cNvSpPr txBox="1"/>
          <p:nvPr/>
        </p:nvSpPr>
        <p:spPr>
          <a:xfrm>
            <a:off x="886968" y="1581912"/>
            <a:ext cx="1646605" cy="461665"/>
          </a:xfrm>
          <a:prstGeom prst="rect">
            <a:avLst/>
          </a:prstGeom>
          <a:noFill/>
        </p:spPr>
        <p:txBody>
          <a:bodyPr wrap="none">
            <a:spAutoFit/>
          </a:bodyPr>
          <a:lstStyle/>
          <a:p>
            <a:pPr algn="just"/>
            <a:r>
              <a:rPr sz="2400" b="1">
                <a:solidFill>
                  <a:srgbClr val="192D4B"/>
                </a:solidFill>
                <a:latin typeface="Times" panose="02020603050405020304" pitchFamily="18" charset="0"/>
              </a:rPr>
              <a:t>The setting</a:t>
            </a:r>
          </a:p>
        </p:txBody>
      </p:sp>
      <p:sp>
        <p:nvSpPr>
          <p:cNvPr id="9" name="TextBox 8"/>
          <p:cNvSpPr txBox="1"/>
          <p:nvPr/>
        </p:nvSpPr>
        <p:spPr>
          <a:xfrm>
            <a:off x="886968" y="2057400"/>
            <a:ext cx="3033065" cy="1754326"/>
          </a:xfrm>
          <a:prstGeom prst="rect">
            <a:avLst/>
          </a:prstGeom>
          <a:noFill/>
        </p:spPr>
        <p:txBody>
          <a:bodyPr wrap="square">
            <a:spAutoFit/>
          </a:bodyPr>
          <a:lstStyle/>
          <a:p>
            <a:pPr algn="just"/>
            <a:r>
              <a:rPr dirty="0" err="1">
                <a:solidFill>
                  <a:srgbClr val="23282D"/>
                </a:solidFill>
                <a:latin typeface="Times" panose="02020603050405020304" pitchFamily="18" charset="0"/>
              </a:rPr>
              <a:t>Chamas</a:t>
            </a:r>
            <a:r>
              <a:rPr dirty="0">
                <a:solidFill>
                  <a:srgbClr val="23282D"/>
                </a:solidFill>
                <a:latin typeface="Times" panose="02020603050405020304" pitchFamily="18" charset="0"/>
              </a:rPr>
              <a:t> support collective saving, lending and group decision-making. As activities grow, accurate and connected records become increasingly important.</a:t>
            </a:r>
          </a:p>
        </p:txBody>
      </p:sp>
      <p:sp>
        <p:nvSpPr>
          <p:cNvPr id="10" name="Rounded Rectangle 9"/>
          <p:cNvSpPr/>
          <p:nvPr/>
        </p:nvSpPr>
        <p:spPr>
          <a:xfrm>
            <a:off x="4389120" y="1417320"/>
            <a:ext cx="3429000" cy="338328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11" name="Rectangle 10"/>
          <p:cNvSpPr/>
          <p:nvPr/>
        </p:nvSpPr>
        <p:spPr>
          <a:xfrm>
            <a:off x="4389120" y="1417320"/>
            <a:ext cx="73152" cy="338328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12" name="TextBox 11"/>
          <p:cNvSpPr txBox="1"/>
          <p:nvPr/>
        </p:nvSpPr>
        <p:spPr>
          <a:xfrm>
            <a:off x="4590288" y="1581912"/>
            <a:ext cx="2004075" cy="461665"/>
          </a:xfrm>
          <a:prstGeom prst="rect">
            <a:avLst/>
          </a:prstGeom>
          <a:noFill/>
        </p:spPr>
        <p:txBody>
          <a:bodyPr wrap="none">
            <a:spAutoFit/>
          </a:bodyPr>
          <a:lstStyle/>
          <a:p>
            <a:pPr algn="just"/>
            <a:r>
              <a:rPr sz="2400" b="1">
                <a:solidFill>
                  <a:srgbClr val="192D4B"/>
                </a:solidFill>
                <a:latin typeface="Times" panose="02020603050405020304" pitchFamily="18" charset="0"/>
              </a:rPr>
              <a:t>The challenge</a:t>
            </a:r>
          </a:p>
        </p:txBody>
      </p:sp>
      <p:sp>
        <p:nvSpPr>
          <p:cNvPr id="13" name="TextBox 12"/>
          <p:cNvSpPr txBox="1"/>
          <p:nvPr/>
        </p:nvSpPr>
        <p:spPr>
          <a:xfrm>
            <a:off x="4590288" y="2057400"/>
            <a:ext cx="3227831" cy="1754326"/>
          </a:xfrm>
          <a:prstGeom prst="rect">
            <a:avLst/>
          </a:prstGeom>
          <a:noFill/>
        </p:spPr>
        <p:txBody>
          <a:bodyPr wrap="square">
            <a:spAutoFit/>
          </a:bodyPr>
          <a:lstStyle/>
          <a:p>
            <a:pPr algn="just"/>
            <a:r>
              <a:rPr dirty="0">
                <a:solidFill>
                  <a:srgbClr val="23282D"/>
                </a:solidFill>
                <a:latin typeface="Times" panose="02020603050405020304" pitchFamily="18" charset="0"/>
              </a:rPr>
              <a:t>Records may be distributed across notebooks, spreadsheets and messaging channels, making it harder to maintain one reliable view of members, contributions, loans and meetings.</a:t>
            </a:r>
          </a:p>
        </p:txBody>
      </p:sp>
      <p:sp>
        <p:nvSpPr>
          <p:cNvPr id="14" name="Rounded Rectangle 13"/>
          <p:cNvSpPr/>
          <p:nvPr/>
        </p:nvSpPr>
        <p:spPr>
          <a:xfrm>
            <a:off x="8092440" y="1417320"/>
            <a:ext cx="3429000" cy="338328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15" name="Rectangle 14"/>
          <p:cNvSpPr/>
          <p:nvPr/>
        </p:nvSpPr>
        <p:spPr>
          <a:xfrm>
            <a:off x="8092440" y="1417320"/>
            <a:ext cx="73152" cy="3383280"/>
          </a:xfrm>
          <a:prstGeom prst="rect">
            <a:avLst/>
          </a:prstGeom>
          <a:solidFill>
            <a:srgbClr val="37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latin typeface="Times" panose="02020603050405020304" pitchFamily="18" charset="0"/>
            </a:endParaRPr>
          </a:p>
        </p:txBody>
      </p:sp>
      <p:sp>
        <p:nvSpPr>
          <p:cNvPr id="16" name="TextBox 15"/>
          <p:cNvSpPr txBox="1"/>
          <p:nvPr/>
        </p:nvSpPr>
        <p:spPr>
          <a:xfrm>
            <a:off x="8293608" y="1581912"/>
            <a:ext cx="2348720" cy="461665"/>
          </a:xfrm>
          <a:prstGeom prst="rect">
            <a:avLst/>
          </a:prstGeom>
          <a:noFill/>
        </p:spPr>
        <p:txBody>
          <a:bodyPr wrap="none">
            <a:spAutoFit/>
          </a:bodyPr>
          <a:lstStyle/>
          <a:p>
            <a:pPr algn="just"/>
            <a:r>
              <a:rPr sz="2400" b="1">
                <a:solidFill>
                  <a:srgbClr val="192D4B"/>
                </a:solidFill>
                <a:latin typeface="Times" panose="02020603050405020304" pitchFamily="18" charset="0"/>
              </a:rPr>
              <a:t>The opportunity</a:t>
            </a:r>
          </a:p>
        </p:txBody>
      </p:sp>
      <p:sp>
        <p:nvSpPr>
          <p:cNvPr id="17" name="TextBox 16"/>
          <p:cNvSpPr txBox="1"/>
          <p:nvPr/>
        </p:nvSpPr>
        <p:spPr>
          <a:xfrm>
            <a:off x="8293608" y="2057399"/>
            <a:ext cx="3593592" cy="1477328"/>
          </a:xfrm>
          <a:prstGeom prst="rect">
            <a:avLst/>
          </a:prstGeom>
          <a:noFill/>
        </p:spPr>
        <p:txBody>
          <a:bodyPr wrap="square">
            <a:spAutoFit/>
          </a:bodyPr>
          <a:lstStyle/>
          <a:p>
            <a:pPr algn="just"/>
            <a:r>
              <a:rPr dirty="0">
                <a:solidFill>
                  <a:srgbClr val="23282D"/>
                </a:solidFill>
                <a:latin typeface="Times" panose="02020603050405020304" pitchFamily="18" charset="0"/>
              </a:rPr>
              <a:t>A mobile platform can bring these activities together, improve visibility and provide timely information while keeping human decision-making at the </a:t>
            </a:r>
            <a:r>
              <a:rPr dirty="0" err="1">
                <a:solidFill>
                  <a:srgbClr val="23282D"/>
                </a:solidFill>
                <a:latin typeface="Times" panose="02020603050405020304" pitchFamily="18" charset="0"/>
              </a:rPr>
              <a:t>centre</a:t>
            </a:r>
            <a:r>
              <a:rPr dirty="0" smtClean="0">
                <a:solidFill>
                  <a:srgbClr val="23282D"/>
                </a:solidFill>
                <a:latin typeface="Times" panose="02020603050405020304" pitchFamily="18" charset="0"/>
              </a:rPr>
              <a:t>.</a:t>
            </a:r>
            <a:endParaRPr dirty="0">
              <a:solidFill>
                <a:srgbClr val="23282D"/>
              </a:solidFill>
              <a:latin typeface="Times" panose="02020603050405020304" pitchFamily="18" charset="0"/>
            </a:endParaRPr>
          </a:p>
        </p:txBody>
      </p:sp>
      <p:sp>
        <p:nvSpPr>
          <p:cNvPr id="18" name="TextBox 17"/>
          <p:cNvSpPr txBox="1"/>
          <p:nvPr/>
        </p:nvSpPr>
        <p:spPr>
          <a:xfrm>
            <a:off x="8477714" y="6473952"/>
            <a:ext cx="2906566" cy="253916"/>
          </a:xfrm>
          <a:prstGeom prst="rect">
            <a:avLst/>
          </a:prstGeom>
          <a:noFill/>
        </p:spPr>
        <p:txBody>
          <a:bodyPr wrap="none">
            <a:spAutoFit/>
          </a:bodyPr>
          <a:lstStyle/>
          <a:p>
            <a:pPr algn="just"/>
            <a:r>
              <a:rPr sz="1050">
                <a:solidFill>
                  <a:srgbClr val="69737D"/>
                </a:solidFill>
                <a:latin typeface="Times" panose="02020603050405020304" pitchFamily="18" charset="0"/>
              </a:rPr>
              <a:t>ChamaPlus | Mount Kenya University | 2025/2026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4" name="TextBox 3"/>
          <p:cNvSpPr txBox="1"/>
          <p:nvPr/>
        </p:nvSpPr>
        <p:spPr>
          <a:xfrm>
            <a:off x="594360" y="320040"/>
            <a:ext cx="6199133" cy="646331"/>
          </a:xfrm>
          <a:prstGeom prst="rect">
            <a:avLst/>
          </a:prstGeom>
          <a:noFill/>
        </p:spPr>
        <p:txBody>
          <a:bodyPr wrap="none">
            <a:spAutoFit/>
          </a:bodyPr>
          <a:lstStyle/>
          <a:p>
            <a:r>
              <a:rPr sz="3600" b="1">
                <a:solidFill>
                  <a:srgbClr val="192D4B"/>
                </a:solidFill>
                <a:latin typeface="Times" panose="02020603050405020304" pitchFamily="18" charset="0"/>
              </a:rPr>
              <a:t>2. Problem and Identified Gap</a:t>
            </a:r>
          </a:p>
        </p:txBody>
      </p:sp>
      <p:sp>
        <p:nvSpPr>
          <p:cNvPr id="5" name="TextBox 4"/>
          <p:cNvSpPr txBox="1"/>
          <p:nvPr/>
        </p:nvSpPr>
        <p:spPr>
          <a:xfrm>
            <a:off x="612648" y="841248"/>
            <a:ext cx="5327099" cy="369332"/>
          </a:xfrm>
          <a:prstGeom prst="rect">
            <a:avLst/>
          </a:prstGeom>
          <a:noFill/>
        </p:spPr>
        <p:txBody>
          <a:bodyPr wrap="none">
            <a:spAutoFit/>
          </a:bodyPr>
          <a:lstStyle/>
          <a:p>
            <a:r>
              <a:rPr>
                <a:solidFill>
                  <a:srgbClr val="69737D"/>
                </a:solidFill>
                <a:latin typeface="Times" panose="02020603050405020304" pitchFamily="18" charset="0"/>
              </a:rPr>
              <a:t>From fragmented records to integrated decision support</a:t>
            </a:r>
          </a:p>
        </p:txBody>
      </p:sp>
      <p:sp>
        <p:nvSpPr>
          <p:cNvPr id="6" name="Rounded Rectangle 5"/>
          <p:cNvSpPr/>
          <p:nvPr/>
        </p:nvSpPr>
        <p:spPr>
          <a:xfrm>
            <a:off x="685800" y="1325880"/>
            <a:ext cx="5120640" cy="43891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7" name="Rectangle 6"/>
          <p:cNvSpPr/>
          <p:nvPr/>
        </p:nvSpPr>
        <p:spPr>
          <a:xfrm>
            <a:off x="685800" y="1325880"/>
            <a:ext cx="73152" cy="438912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8" name="TextBox 7"/>
          <p:cNvSpPr txBox="1"/>
          <p:nvPr/>
        </p:nvSpPr>
        <p:spPr>
          <a:xfrm>
            <a:off x="886968" y="1490472"/>
            <a:ext cx="1311578" cy="461665"/>
          </a:xfrm>
          <a:prstGeom prst="rect">
            <a:avLst/>
          </a:prstGeom>
          <a:noFill/>
        </p:spPr>
        <p:txBody>
          <a:bodyPr wrap="none">
            <a:spAutoFit/>
          </a:bodyPr>
          <a:lstStyle/>
          <a:p>
            <a:r>
              <a:rPr sz="2400" b="1">
                <a:solidFill>
                  <a:srgbClr val="192D4B"/>
                </a:solidFill>
                <a:latin typeface="Times" panose="02020603050405020304" pitchFamily="18" charset="0"/>
              </a:rPr>
              <a:t>Problem</a:t>
            </a:r>
          </a:p>
        </p:txBody>
      </p:sp>
      <p:sp>
        <p:nvSpPr>
          <p:cNvPr id="9" name="TextBox 8"/>
          <p:cNvSpPr txBox="1"/>
          <p:nvPr/>
        </p:nvSpPr>
        <p:spPr>
          <a:xfrm>
            <a:off x="886968" y="1965960"/>
            <a:ext cx="4939173" cy="1754326"/>
          </a:xfrm>
          <a:prstGeom prst="rect">
            <a:avLst/>
          </a:prstGeom>
          <a:noFill/>
        </p:spPr>
        <p:txBody>
          <a:bodyPr wrap="none">
            <a:spAutoFit/>
          </a:bodyPr>
          <a:lstStyle/>
          <a:p>
            <a:r>
              <a:rPr>
                <a:solidFill>
                  <a:srgbClr val="23282D"/>
                </a:solidFill>
                <a:latin typeface="Times" panose="02020603050405020304" pitchFamily="18" charset="0"/>
              </a:rPr>
              <a:t>• Fragmented membership and contribution records
• Difficult loan and repayment monitoring
• Manual reporting and delayed summaries
• Limited visibility of committee processes
• Weak separation of user responsibilities
• Limited information to support lending decisions</a:t>
            </a:r>
          </a:p>
        </p:txBody>
      </p:sp>
      <p:sp>
        <p:nvSpPr>
          <p:cNvPr id="10" name="Rounded Rectangle 9"/>
          <p:cNvSpPr/>
          <p:nvPr/>
        </p:nvSpPr>
        <p:spPr>
          <a:xfrm>
            <a:off x="6172200" y="1325880"/>
            <a:ext cx="5303520" cy="43891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1" name="Rectangle 10"/>
          <p:cNvSpPr/>
          <p:nvPr/>
        </p:nvSpPr>
        <p:spPr>
          <a:xfrm>
            <a:off x="6172200" y="1325880"/>
            <a:ext cx="73152" cy="438912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2" name="TextBox 11"/>
          <p:cNvSpPr txBox="1"/>
          <p:nvPr/>
        </p:nvSpPr>
        <p:spPr>
          <a:xfrm>
            <a:off x="6373368" y="1490472"/>
            <a:ext cx="2023311" cy="461665"/>
          </a:xfrm>
          <a:prstGeom prst="rect">
            <a:avLst/>
          </a:prstGeom>
          <a:noFill/>
        </p:spPr>
        <p:txBody>
          <a:bodyPr wrap="none">
            <a:spAutoFit/>
          </a:bodyPr>
          <a:lstStyle/>
          <a:p>
            <a:r>
              <a:rPr sz="2400" b="1">
                <a:solidFill>
                  <a:srgbClr val="192D4B"/>
                </a:solidFill>
                <a:latin typeface="Times" panose="02020603050405020304" pitchFamily="18" charset="0"/>
              </a:rPr>
              <a:t>Identified gap</a:t>
            </a:r>
          </a:p>
        </p:txBody>
      </p:sp>
      <p:sp>
        <p:nvSpPr>
          <p:cNvPr id="13" name="TextBox 12"/>
          <p:cNvSpPr txBox="1"/>
          <p:nvPr/>
        </p:nvSpPr>
        <p:spPr>
          <a:xfrm>
            <a:off x="6373368" y="1965959"/>
            <a:ext cx="4937759" cy="1754326"/>
          </a:xfrm>
          <a:prstGeom prst="rect">
            <a:avLst/>
          </a:prstGeom>
          <a:noFill/>
        </p:spPr>
        <p:txBody>
          <a:bodyPr wrap="square">
            <a:spAutoFit/>
          </a:bodyPr>
          <a:lstStyle/>
          <a:p>
            <a:r>
              <a:rPr dirty="0" smtClean="0">
                <a:solidFill>
                  <a:srgbClr val="23282D"/>
                </a:solidFill>
                <a:latin typeface="Times" panose="02020603050405020304" pitchFamily="18" charset="0"/>
              </a:rPr>
              <a:t>Existing digital approaches can address individual functions, but the project identified a need for one mobile environment connecting:
Membership  +  Savings  +  Lending  +  Governance  +  Credit support  +  Reporting</a:t>
            </a:r>
            <a:endParaRPr dirty="0">
              <a:solidFill>
                <a:srgbClr val="23282D"/>
              </a:solidFill>
              <a:latin typeface="Times" panose="02020603050405020304" pitchFamily="18" charset="0"/>
            </a:endParaRPr>
          </a:p>
        </p:txBody>
      </p:sp>
      <p:sp>
        <p:nvSpPr>
          <p:cNvPr id="14" name="TextBox 13"/>
          <p:cNvSpPr txBox="1"/>
          <p:nvPr/>
        </p:nvSpPr>
        <p:spPr>
          <a:xfrm>
            <a:off x="8402373" y="6473952"/>
            <a:ext cx="2981907" cy="253916"/>
          </a:xfrm>
          <a:prstGeom prst="rect">
            <a:avLst/>
          </a:prstGeom>
          <a:noFill/>
        </p:spPr>
        <p:txBody>
          <a:bodyPr wrap="none">
            <a:spAutoFit/>
          </a:bodyPr>
          <a:lstStyle/>
          <a:p>
            <a:pPr algn="r"/>
            <a:r>
              <a:rPr sz="1050">
                <a:solidFill>
                  <a:srgbClr val="69737D"/>
                </a:solidFill>
                <a:latin typeface="Times" panose="02020603050405020304" pitchFamily="18" charset="0"/>
              </a:rPr>
              <a:t>ChamaPlus | Problem → Gap → Proposed response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4" name="TextBox 3"/>
          <p:cNvSpPr txBox="1"/>
          <p:nvPr/>
        </p:nvSpPr>
        <p:spPr>
          <a:xfrm>
            <a:off x="594360" y="320040"/>
            <a:ext cx="4275529" cy="646331"/>
          </a:xfrm>
          <a:prstGeom prst="rect">
            <a:avLst/>
          </a:prstGeom>
          <a:noFill/>
        </p:spPr>
        <p:txBody>
          <a:bodyPr wrap="none">
            <a:spAutoFit/>
          </a:bodyPr>
          <a:lstStyle/>
          <a:p>
            <a:r>
              <a:rPr sz="3600" b="1">
                <a:solidFill>
                  <a:srgbClr val="192D4B"/>
                </a:solidFill>
                <a:latin typeface="Times" panose="02020603050405020304" pitchFamily="18" charset="0"/>
              </a:rPr>
              <a:t>3. Project Objectives</a:t>
            </a:r>
          </a:p>
        </p:txBody>
      </p:sp>
      <p:sp>
        <p:nvSpPr>
          <p:cNvPr id="5" name="TextBox 4"/>
          <p:cNvSpPr txBox="1"/>
          <p:nvPr/>
        </p:nvSpPr>
        <p:spPr>
          <a:xfrm>
            <a:off x="612648" y="841248"/>
            <a:ext cx="3390672" cy="369332"/>
          </a:xfrm>
          <a:prstGeom prst="rect">
            <a:avLst/>
          </a:prstGeom>
          <a:noFill/>
        </p:spPr>
        <p:txBody>
          <a:bodyPr wrap="none">
            <a:spAutoFit/>
          </a:bodyPr>
          <a:lstStyle/>
          <a:p>
            <a:r>
              <a:rPr>
                <a:solidFill>
                  <a:srgbClr val="69737D"/>
                </a:solidFill>
                <a:latin typeface="Times" panose="02020603050405020304" pitchFamily="18" charset="0"/>
              </a:rPr>
              <a:t>What the project set out to achieve</a:t>
            </a:r>
          </a:p>
        </p:txBody>
      </p:sp>
      <p:sp>
        <p:nvSpPr>
          <p:cNvPr id="6" name="Oval 5"/>
          <p:cNvSpPr/>
          <p:nvPr/>
        </p:nvSpPr>
        <p:spPr>
          <a:xfrm>
            <a:off x="777240" y="1325880"/>
            <a:ext cx="658368" cy="658368"/>
          </a:xfrm>
          <a:prstGeom prst="ellipse">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Times" panose="02020603050405020304" pitchFamily="18" charset="0"/>
              </a:rPr>
              <a:t>01</a:t>
            </a:r>
          </a:p>
        </p:txBody>
      </p:sp>
      <p:sp>
        <p:nvSpPr>
          <p:cNvPr id="7" name="TextBox 6"/>
          <p:cNvSpPr txBox="1"/>
          <p:nvPr/>
        </p:nvSpPr>
        <p:spPr>
          <a:xfrm>
            <a:off x="1645920" y="1307592"/>
            <a:ext cx="10315644" cy="523220"/>
          </a:xfrm>
          <a:prstGeom prst="rect">
            <a:avLst/>
          </a:prstGeom>
          <a:noFill/>
        </p:spPr>
        <p:txBody>
          <a:bodyPr wrap="none">
            <a:spAutoFit/>
          </a:bodyPr>
          <a:lstStyle/>
          <a:p>
            <a:r>
              <a:rPr sz="2800" dirty="0">
                <a:solidFill>
                  <a:srgbClr val="23282D"/>
                </a:solidFill>
                <a:latin typeface="Times" panose="02020603050405020304" pitchFamily="18" charset="0"/>
              </a:rPr>
              <a:t>Investigate challenges in manual and semi-digital </a:t>
            </a:r>
            <a:r>
              <a:rPr sz="2800" dirty="0" err="1">
                <a:solidFill>
                  <a:srgbClr val="23282D"/>
                </a:solidFill>
                <a:latin typeface="Times" panose="02020603050405020304" pitchFamily="18" charset="0"/>
              </a:rPr>
              <a:t>chama</a:t>
            </a:r>
            <a:r>
              <a:rPr sz="2800" dirty="0">
                <a:solidFill>
                  <a:srgbClr val="23282D"/>
                </a:solidFill>
                <a:latin typeface="Times" panose="02020603050405020304" pitchFamily="18" charset="0"/>
              </a:rPr>
              <a:t> management.</a:t>
            </a:r>
          </a:p>
        </p:txBody>
      </p:sp>
      <p:sp>
        <p:nvSpPr>
          <p:cNvPr id="8" name="Oval 7"/>
          <p:cNvSpPr/>
          <p:nvPr/>
        </p:nvSpPr>
        <p:spPr>
          <a:xfrm>
            <a:off x="777240" y="2834639"/>
            <a:ext cx="658368" cy="658368"/>
          </a:xfrm>
          <a:prstGeom prst="ellipse">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Times" panose="02020603050405020304" pitchFamily="18" charset="0"/>
              </a:rPr>
              <a:t>02</a:t>
            </a:r>
          </a:p>
        </p:txBody>
      </p:sp>
      <p:sp>
        <p:nvSpPr>
          <p:cNvPr id="9" name="TextBox 8"/>
          <p:cNvSpPr txBox="1"/>
          <p:nvPr/>
        </p:nvSpPr>
        <p:spPr>
          <a:xfrm>
            <a:off x="1645920" y="2457162"/>
            <a:ext cx="9921240" cy="1384995"/>
          </a:xfrm>
          <a:prstGeom prst="rect">
            <a:avLst/>
          </a:prstGeom>
          <a:noFill/>
        </p:spPr>
        <p:txBody>
          <a:bodyPr wrap="square">
            <a:spAutoFit/>
          </a:bodyPr>
          <a:lstStyle/>
          <a:p>
            <a:r>
              <a:rPr sz="2800" dirty="0">
                <a:solidFill>
                  <a:srgbClr val="23282D"/>
                </a:solidFill>
                <a:latin typeface="Times" panose="02020603050405020304" pitchFamily="18" charset="0"/>
              </a:rPr>
              <a:t>Design and develop an integrated mobile platform for membership, contributions, loans, governance, reporting and credit-aware decision support.</a:t>
            </a:r>
          </a:p>
        </p:txBody>
      </p:sp>
      <p:sp>
        <p:nvSpPr>
          <p:cNvPr id="10" name="Oval 9"/>
          <p:cNvSpPr/>
          <p:nvPr/>
        </p:nvSpPr>
        <p:spPr>
          <a:xfrm>
            <a:off x="777240" y="4343400"/>
            <a:ext cx="658368" cy="658368"/>
          </a:xfrm>
          <a:prstGeom prst="ellipse">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Times" panose="02020603050405020304" pitchFamily="18" charset="0"/>
              </a:rPr>
              <a:t>03</a:t>
            </a:r>
          </a:p>
        </p:txBody>
      </p:sp>
      <p:sp>
        <p:nvSpPr>
          <p:cNvPr id="11" name="TextBox 10"/>
          <p:cNvSpPr txBox="1"/>
          <p:nvPr/>
        </p:nvSpPr>
        <p:spPr>
          <a:xfrm>
            <a:off x="1645920" y="4325112"/>
            <a:ext cx="10315644" cy="954107"/>
          </a:xfrm>
          <a:prstGeom prst="rect">
            <a:avLst/>
          </a:prstGeom>
          <a:noFill/>
        </p:spPr>
        <p:txBody>
          <a:bodyPr wrap="square">
            <a:spAutoFit/>
          </a:bodyPr>
          <a:lstStyle/>
          <a:p>
            <a:r>
              <a:rPr sz="2800" dirty="0">
                <a:solidFill>
                  <a:srgbClr val="23282D"/>
                </a:solidFill>
                <a:latin typeface="Times" panose="02020603050405020304" pitchFamily="18" charset="0"/>
              </a:rPr>
              <a:t>Test and evaluate the functionality, reliability and usability of the developed prototype.</a:t>
            </a:r>
          </a:p>
        </p:txBody>
      </p:sp>
      <p:sp>
        <p:nvSpPr>
          <p:cNvPr id="12" name="TextBox 11"/>
          <p:cNvSpPr txBox="1"/>
          <p:nvPr/>
        </p:nvSpPr>
        <p:spPr>
          <a:xfrm>
            <a:off x="8477714" y="6473952"/>
            <a:ext cx="2906566" cy="253916"/>
          </a:xfrm>
          <a:prstGeom prst="rect">
            <a:avLst/>
          </a:prstGeom>
          <a:noFill/>
        </p:spPr>
        <p:txBody>
          <a:bodyPr wrap="none">
            <a:spAutoFit/>
          </a:bodyPr>
          <a:lstStyle/>
          <a:p>
            <a:pPr algn="r"/>
            <a:r>
              <a:rPr sz="1050">
                <a:solidFill>
                  <a:srgbClr val="69737D"/>
                </a:solidFill>
                <a:latin typeface="Times" panose="02020603050405020304" pitchFamily="18" charset="0"/>
              </a:rPr>
              <a:t>ChamaPlus | Mount Kenya University | 2025/2026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4" name="TextBox 3"/>
          <p:cNvSpPr txBox="1"/>
          <p:nvPr/>
        </p:nvSpPr>
        <p:spPr>
          <a:xfrm>
            <a:off x="594360" y="320040"/>
            <a:ext cx="6062878" cy="584775"/>
          </a:xfrm>
          <a:prstGeom prst="rect">
            <a:avLst/>
          </a:prstGeom>
          <a:noFill/>
        </p:spPr>
        <p:txBody>
          <a:bodyPr wrap="none">
            <a:spAutoFit/>
          </a:bodyPr>
          <a:lstStyle/>
          <a:p>
            <a:r>
              <a:rPr sz="3200" b="1">
                <a:solidFill>
                  <a:srgbClr val="192D4B"/>
                </a:solidFill>
                <a:latin typeface="Times" panose="02020603050405020304" pitchFamily="18" charset="0"/>
              </a:rPr>
              <a:t>4. Proposed Solution: ChamaPlus</a:t>
            </a:r>
          </a:p>
        </p:txBody>
      </p:sp>
      <p:sp>
        <p:nvSpPr>
          <p:cNvPr id="5" name="TextBox 4"/>
          <p:cNvSpPr txBox="1"/>
          <p:nvPr/>
        </p:nvSpPr>
        <p:spPr>
          <a:xfrm>
            <a:off x="612648" y="841248"/>
            <a:ext cx="3894015" cy="338554"/>
          </a:xfrm>
          <a:prstGeom prst="rect">
            <a:avLst/>
          </a:prstGeom>
          <a:noFill/>
        </p:spPr>
        <p:txBody>
          <a:bodyPr wrap="none">
            <a:spAutoFit/>
          </a:bodyPr>
          <a:lstStyle/>
          <a:p>
            <a:r>
              <a:rPr sz="1600">
                <a:solidFill>
                  <a:srgbClr val="69737D"/>
                </a:solidFill>
                <a:latin typeface="Times" panose="02020603050405020304" pitchFamily="18" charset="0"/>
              </a:rPr>
              <a:t>One platform connecting the chama lifecycle</a:t>
            </a:r>
          </a:p>
        </p:txBody>
      </p:sp>
      <p:sp>
        <p:nvSpPr>
          <p:cNvPr id="6" name="Rounded Rectangle 5"/>
          <p:cNvSpPr/>
          <p:nvPr/>
        </p:nvSpPr>
        <p:spPr>
          <a:xfrm>
            <a:off x="640080" y="128016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7" name="Rectangle 6"/>
          <p:cNvSpPr/>
          <p:nvPr/>
        </p:nvSpPr>
        <p:spPr>
          <a:xfrm>
            <a:off x="640080" y="128016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8" name="TextBox 7"/>
          <p:cNvSpPr txBox="1"/>
          <p:nvPr/>
        </p:nvSpPr>
        <p:spPr>
          <a:xfrm>
            <a:off x="841247" y="1444751"/>
            <a:ext cx="1579278" cy="400110"/>
          </a:xfrm>
          <a:prstGeom prst="rect">
            <a:avLst/>
          </a:prstGeom>
          <a:noFill/>
        </p:spPr>
        <p:txBody>
          <a:bodyPr wrap="none">
            <a:spAutoFit/>
          </a:bodyPr>
          <a:lstStyle/>
          <a:p>
            <a:r>
              <a:rPr sz="2000" b="1">
                <a:solidFill>
                  <a:srgbClr val="192D4B"/>
                </a:solidFill>
                <a:latin typeface="Times" panose="02020603050405020304" pitchFamily="18" charset="0"/>
              </a:rPr>
              <a:t>Membership</a:t>
            </a:r>
          </a:p>
        </p:txBody>
      </p:sp>
      <p:sp>
        <p:nvSpPr>
          <p:cNvPr id="9" name="TextBox 8"/>
          <p:cNvSpPr txBox="1"/>
          <p:nvPr/>
        </p:nvSpPr>
        <p:spPr>
          <a:xfrm>
            <a:off x="841247" y="1920239"/>
            <a:ext cx="1875835" cy="338554"/>
          </a:xfrm>
          <a:prstGeom prst="rect">
            <a:avLst/>
          </a:prstGeom>
          <a:noFill/>
        </p:spPr>
        <p:txBody>
          <a:bodyPr wrap="none">
            <a:spAutoFit/>
          </a:bodyPr>
          <a:lstStyle/>
          <a:p>
            <a:r>
              <a:rPr sz="1600">
                <a:solidFill>
                  <a:srgbClr val="23282D"/>
                </a:solidFill>
                <a:latin typeface="Times" panose="02020603050405020304" pitchFamily="18" charset="0"/>
              </a:rPr>
              <a:t>Users, chamas, roles</a:t>
            </a:r>
          </a:p>
        </p:txBody>
      </p:sp>
      <p:sp>
        <p:nvSpPr>
          <p:cNvPr id="10" name="Rounded Rectangle 9"/>
          <p:cNvSpPr/>
          <p:nvPr/>
        </p:nvSpPr>
        <p:spPr>
          <a:xfrm>
            <a:off x="4160520" y="128016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1" name="Rectangle 10"/>
          <p:cNvSpPr/>
          <p:nvPr/>
        </p:nvSpPr>
        <p:spPr>
          <a:xfrm>
            <a:off x="4160520" y="128016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2" name="TextBox 11"/>
          <p:cNvSpPr txBox="1"/>
          <p:nvPr/>
        </p:nvSpPr>
        <p:spPr>
          <a:xfrm>
            <a:off x="4361688" y="1444751"/>
            <a:ext cx="1024639" cy="400110"/>
          </a:xfrm>
          <a:prstGeom prst="rect">
            <a:avLst/>
          </a:prstGeom>
          <a:noFill/>
        </p:spPr>
        <p:txBody>
          <a:bodyPr wrap="none">
            <a:spAutoFit/>
          </a:bodyPr>
          <a:lstStyle/>
          <a:p>
            <a:r>
              <a:rPr sz="2000" b="1">
                <a:solidFill>
                  <a:srgbClr val="192D4B"/>
                </a:solidFill>
                <a:latin typeface="Times" panose="02020603050405020304" pitchFamily="18" charset="0"/>
              </a:rPr>
              <a:t>Savings</a:t>
            </a:r>
          </a:p>
        </p:txBody>
      </p:sp>
      <p:sp>
        <p:nvSpPr>
          <p:cNvPr id="13" name="TextBox 12"/>
          <p:cNvSpPr txBox="1"/>
          <p:nvPr/>
        </p:nvSpPr>
        <p:spPr>
          <a:xfrm>
            <a:off x="4361688" y="1920239"/>
            <a:ext cx="2608406" cy="338554"/>
          </a:xfrm>
          <a:prstGeom prst="rect">
            <a:avLst/>
          </a:prstGeom>
          <a:noFill/>
        </p:spPr>
        <p:txBody>
          <a:bodyPr wrap="none">
            <a:spAutoFit/>
          </a:bodyPr>
          <a:lstStyle/>
          <a:p>
            <a:r>
              <a:rPr sz="1600">
                <a:solidFill>
                  <a:srgbClr val="23282D"/>
                </a:solidFill>
                <a:latin typeface="Times" panose="02020603050405020304" pitchFamily="18" charset="0"/>
              </a:rPr>
              <a:t>Cycles, contributions, history</a:t>
            </a:r>
          </a:p>
        </p:txBody>
      </p:sp>
      <p:sp>
        <p:nvSpPr>
          <p:cNvPr id="14" name="Rounded Rectangle 13"/>
          <p:cNvSpPr/>
          <p:nvPr/>
        </p:nvSpPr>
        <p:spPr>
          <a:xfrm>
            <a:off x="7680960" y="128016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5" name="Rectangle 14"/>
          <p:cNvSpPr/>
          <p:nvPr/>
        </p:nvSpPr>
        <p:spPr>
          <a:xfrm>
            <a:off x="7680960" y="128016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6" name="TextBox 15"/>
          <p:cNvSpPr txBox="1"/>
          <p:nvPr/>
        </p:nvSpPr>
        <p:spPr>
          <a:xfrm>
            <a:off x="7882128" y="1444751"/>
            <a:ext cx="1096775" cy="400110"/>
          </a:xfrm>
          <a:prstGeom prst="rect">
            <a:avLst/>
          </a:prstGeom>
          <a:noFill/>
        </p:spPr>
        <p:txBody>
          <a:bodyPr wrap="none">
            <a:spAutoFit/>
          </a:bodyPr>
          <a:lstStyle/>
          <a:p>
            <a:r>
              <a:rPr sz="2000" b="1">
                <a:solidFill>
                  <a:srgbClr val="192D4B"/>
                </a:solidFill>
                <a:latin typeface="Times" panose="02020603050405020304" pitchFamily="18" charset="0"/>
              </a:rPr>
              <a:t>Lending</a:t>
            </a:r>
          </a:p>
        </p:txBody>
      </p:sp>
      <p:sp>
        <p:nvSpPr>
          <p:cNvPr id="17" name="TextBox 16"/>
          <p:cNvSpPr txBox="1"/>
          <p:nvPr/>
        </p:nvSpPr>
        <p:spPr>
          <a:xfrm>
            <a:off x="7882128" y="1920239"/>
            <a:ext cx="3591048" cy="338554"/>
          </a:xfrm>
          <a:prstGeom prst="rect">
            <a:avLst/>
          </a:prstGeom>
          <a:noFill/>
        </p:spPr>
        <p:txBody>
          <a:bodyPr wrap="none">
            <a:spAutoFit/>
          </a:bodyPr>
          <a:lstStyle/>
          <a:p>
            <a:r>
              <a:rPr sz="1600">
                <a:solidFill>
                  <a:srgbClr val="23282D"/>
                </a:solidFill>
                <a:latin typeface="Times" panose="02020603050405020304" pitchFamily="18" charset="0"/>
              </a:rPr>
              <a:t>Products, applications, votes, repayments</a:t>
            </a:r>
          </a:p>
        </p:txBody>
      </p:sp>
      <p:sp>
        <p:nvSpPr>
          <p:cNvPr id="18" name="Rounded Rectangle 17"/>
          <p:cNvSpPr/>
          <p:nvPr/>
        </p:nvSpPr>
        <p:spPr>
          <a:xfrm>
            <a:off x="2423160" y="365760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9" name="Rectangle 18"/>
          <p:cNvSpPr/>
          <p:nvPr/>
        </p:nvSpPr>
        <p:spPr>
          <a:xfrm>
            <a:off x="2423160" y="365760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0" name="TextBox 19"/>
          <p:cNvSpPr txBox="1"/>
          <p:nvPr/>
        </p:nvSpPr>
        <p:spPr>
          <a:xfrm>
            <a:off x="2624328" y="3822191"/>
            <a:ext cx="1508746" cy="400110"/>
          </a:xfrm>
          <a:prstGeom prst="rect">
            <a:avLst/>
          </a:prstGeom>
          <a:noFill/>
        </p:spPr>
        <p:txBody>
          <a:bodyPr wrap="none">
            <a:spAutoFit/>
          </a:bodyPr>
          <a:lstStyle/>
          <a:p>
            <a:r>
              <a:rPr sz="2000" b="1">
                <a:solidFill>
                  <a:srgbClr val="192D4B"/>
                </a:solidFill>
                <a:latin typeface="Times" panose="02020603050405020304" pitchFamily="18" charset="0"/>
              </a:rPr>
              <a:t>Governance</a:t>
            </a:r>
          </a:p>
        </p:txBody>
      </p:sp>
      <p:sp>
        <p:nvSpPr>
          <p:cNvPr id="21" name="TextBox 20"/>
          <p:cNvSpPr txBox="1"/>
          <p:nvPr/>
        </p:nvSpPr>
        <p:spPr>
          <a:xfrm>
            <a:off x="2624328" y="4297680"/>
            <a:ext cx="3374642" cy="338554"/>
          </a:xfrm>
          <a:prstGeom prst="rect">
            <a:avLst/>
          </a:prstGeom>
          <a:noFill/>
        </p:spPr>
        <p:txBody>
          <a:bodyPr wrap="none">
            <a:spAutoFit/>
          </a:bodyPr>
          <a:lstStyle/>
          <a:p>
            <a:r>
              <a:rPr sz="1600">
                <a:solidFill>
                  <a:srgbClr val="23282D"/>
                </a:solidFill>
                <a:latin typeface="Times" panose="02020603050405020304" pitchFamily="18" charset="0"/>
              </a:rPr>
              <a:t>Meetings, attendance, minutes, actions</a:t>
            </a:r>
          </a:p>
        </p:txBody>
      </p:sp>
      <p:sp>
        <p:nvSpPr>
          <p:cNvPr id="22" name="Rounded Rectangle 21"/>
          <p:cNvSpPr/>
          <p:nvPr/>
        </p:nvSpPr>
        <p:spPr>
          <a:xfrm>
            <a:off x="5943600" y="365760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3" name="Rectangle 22"/>
          <p:cNvSpPr/>
          <p:nvPr/>
        </p:nvSpPr>
        <p:spPr>
          <a:xfrm>
            <a:off x="5943600" y="365760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4" name="TextBox 23"/>
          <p:cNvSpPr txBox="1"/>
          <p:nvPr/>
        </p:nvSpPr>
        <p:spPr>
          <a:xfrm>
            <a:off x="6144768" y="3822191"/>
            <a:ext cx="2071401" cy="400110"/>
          </a:xfrm>
          <a:prstGeom prst="rect">
            <a:avLst/>
          </a:prstGeom>
          <a:noFill/>
        </p:spPr>
        <p:txBody>
          <a:bodyPr wrap="none">
            <a:spAutoFit/>
          </a:bodyPr>
          <a:lstStyle/>
          <a:p>
            <a:r>
              <a:rPr sz="2000" b="1">
                <a:solidFill>
                  <a:srgbClr val="192D4B"/>
                </a:solidFill>
                <a:latin typeface="Times" panose="02020603050405020304" pitchFamily="18" charset="0"/>
              </a:rPr>
              <a:t>Decision Support</a:t>
            </a:r>
          </a:p>
        </p:txBody>
      </p:sp>
      <p:sp>
        <p:nvSpPr>
          <p:cNvPr id="25" name="TextBox 24"/>
          <p:cNvSpPr txBox="1"/>
          <p:nvPr/>
        </p:nvSpPr>
        <p:spPr>
          <a:xfrm>
            <a:off x="6144768" y="4297680"/>
            <a:ext cx="2917786" cy="338554"/>
          </a:xfrm>
          <a:prstGeom prst="rect">
            <a:avLst/>
          </a:prstGeom>
          <a:noFill/>
        </p:spPr>
        <p:txBody>
          <a:bodyPr wrap="none">
            <a:spAutoFit/>
          </a:bodyPr>
          <a:lstStyle/>
          <a:p>
            <a:r>
              <a:rPr sz="1600">
                <a:solidFill>
                  <a:srgbClr val="23282D"/>
                </a:solidFill>
                <a:latin typeface="Times" panose="02020603050405020304" pitchFamily="18" charset="0"/>
              </a:rPr>
              <a:t>Credit score and risk information</a:t>
            </a:r>
          </a:p>
        </p:txBody>
      </p:sp>
      <p:sp>
        <p:nvSpPr>
          <p:cNvPr id="26" name="Rounded Rectangle 25"/>
          <p:cNvSpPr/>
          <p:nvPr/>
        </p:nvSpPr>
        <p:spPr>
          <a:xfrm>
            <a:off x="9464040" y="3657600"/>
            <a:ext cx="3154680" cy="169164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7" name="Rectangle 26"/>
          <p:cNvSpPr/>
          <p:nvPr/>
        </p:nvSpPr>
        <p:spPr>
          <a:xfrm>
            <a:off x="9464040" y="3657600"/>
            <a:ext cx="73152" cy="169164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8" name="TextBox 27"/>
          <p:cNvSpPr txBox="1"/>
          <p:nvPr/>
        </p:nvSpPr>
        <p:spPr>
          <a:xfrm>
            <a:off x="9665208" y="3822191"/>
            <a:ext cx="1178528" cy="400110"/>
          </a:xfrm>
          <a:prstGeom prst="rect">
            <a:avLst/>
          </a:prstGeom>
          <a:noFill/>
        </p:spPr>
        <p:txBody>
          <a:bodyPr wrap="none">
            <a:spAutoFit/>
          </a:bodyPr>
          <a:lstStyle/>
          <a:p>
            <a:r>
              <a:rPr sz="2000" b="1">
                <a:solidFill>
                  <a:srgbClr val="192D4B"/>
                </a:solidFill>
                <a:latin typeface="Times" panose="02020603050405020304" pitchFamily="18" charset="0"/>
              </a:rPr>
              <a:t>Visibility</a:t>
            </a:r>
          </a:p>
        </p:txBody>
      </p:sp>
      <p:sp>
        <p:nvSpPr>
          <p:cNvPr id="29" name="TextBox 28"/>
          <p:cNvSpPr txBox="1"/>
          <p:nvPr/>
        </p:nvSpPr>
        <p:spPr>
          <a:xfrm>
            <a:off x="9665208" y="4297679"/>
            <a:ext cx="2526487" cy="584775"/>
          </a:xfrm>
          <a:prstGeom prst="rect">
            <a:avLst/>
          </a:prstGeom>
          <a:noFill/>
        </p:spPr>
        <p:txBody>
          <a:bodyPr wrap="square">
            <a:spAutoFit/>
          </a:bodyPr>
          <a:lstStyle/>
          <a:p>
            <a:r>
              <a:rPr sz="1600" dirty="0">
                <a:solidFill>
                  <a:srgbClr val="23282D"/>
                </a:solidFill>
                <a:latin typeface="Times" panose="02020603050405020304" pitchFamily="18" charset="0"/>
              </a:rPr>
              <a:t>Dashboards, notifications, reports</a:t>
            </a:r>
          </a:p>
        </p:txBody>
      </p:sp>
      <p:sp>
        <p:nvSpPr>
          <p:cNvPr id="30" name="Rounded Rectangle 29"/>
          <p:cNvSpPr/>
          <p:nvPr/>
        </p:nvSpPr>
        <p:spPr>
          <a:xfrm>
            <a:off x="4572000" y="2651760"/>
            <a:ext cx="3063240" cy="658368"/>
          </a:xfrm>
          <a:prstGeom prst="round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latin typeface="Times" panose="02020603050405020304" pitchFamily="18" charset="0"/>
              </a:rPr>
              <a:t>CHAMAPLUS</a:t>
            </a:r>
          </a:p>
        </p:txBody>
      </p:sp>
      <p:sp>
        <p:nvSpPr>
          <p:cNvPr id="31" name="TextBox 30"/>
          <p:cNvSpPr txBox="1"/>
          <p:nvPr/>
        </p:nvSpPr>
        <p:spPr>
          <a:xfrm>
            <a:off x="8604352" y="6473952"/>
            <a:ext cx="2779928" cy="246221"/>
          </a:xfrm>
          <a:prstGeom prst="rect">
            <a:avLst/>
          </a:prstGeom>
          <a:noFill/>
        </p:spPr>
        <p:txBody>
          <a:bodyPr wrap="none">
            <a:spAutoFit/>
          </a:bodyPr>
          <a:lstStyle/>
          <a:p>
            <a:pPr algn="r"/>
            <a:r>
              <a:rPr sz="1000">
                <a:solidFill>
                  <a:srgbClr val="69737D"/>
                </a:solidFill>
                <a:latin typeface="Times" panose="02020603050405020304" pitchFamily="18" charset="0"/>
              </a:rPr>
              <a:t>ChamaPlus | Mount Kenya University | 2025/2026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4" name="TextBox 3"/>
          <p:cNvSpPr txBox="1"/>
          <p:nvPr/>
        </p:nvSpPr>
        <p:spPr>
          <a:xfrm>
            <a:off x="594360" y="320040"/>
            <a:ext cx="5383205" cy="584775"/>
          </a:xfrm>
          <a:prstGeom prst="rect">
            <a:avLst/>
          </a:prstGeom>
          <a:noFill/>
        </p:spPr>
        <p:txBody>
          <a:bodyPr wrap="none">
            <a:spAutoFit/>
          </a:bodyPr>
          <a:lstStyle/>
          <a:p>
            <a:r>
              <a:rPr sz="3200" b="1">
                <a:solidFill>
                  <a:srgbClr val="192D4B"/>
                </a:solidFill>
                <a:latin typeface="Times" panose="02020603050405020304" pitchFamily="18" charset="0"/>
              </a:rPr>
              <a:t>5. The Credit-Aware Element</a:t>
            </a:r>
          </a:p>
        </p:txBody>
      </p:sp>
      <p:sp>
        <p:nvSpPr>
          <p:cNvPr id="5" name="TextBox 4"/>
          <p:cNvSpPr txBox="1"/>
          <p:nvPr/>
        </p:nvSpPr>
        <p:spPr>
          <a:xfrm>
            <a:off x="612648" y="841248"/>
            <a:ext cx="3732112" cy="338554"/>
          </a:xfrm>
          <a:prstGeom prst="rect">
            <a:avLst/>
          </a:prstGeom>
          <a:noFill/>
        </p:spPr>
        <p:txBody>
          <a:bodyPr wrap="none">
            <a:spAutoFit/>
          </a:bodyPr>
          <a:lstStyle/>
          <a:p>
            <a:r>
              <a:rPr sz="1600">
                <a:solidFill>
                  <a:srgbClr val="69737D"/>
                </a:solidFill>
                <a:latin typeface="Times" panose="02020603050405020304" pitchFamily="18" charset="0"/>
              </a:rPr>
              <a:t>Decision support — not automated lending</a:t>
            </a:r>
          </a:p>
        </p:txBody>
      </p:sp>
      <p:sp>
        <p:nvSpPr>
          <p:cNvPr id="6" name="Rounded Rectangle 5"/>
          <p:cNvSpPr/>
          <p:nvPr/>
        </p:nvSpPr>
        <p:spPr>
          <a:xfrm>
            <a:off x="731520"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7" name="Rectangle 6"/>
          <p:cNvSpPr/>
          <p:nvPr/>
        </p:nvSpPr>
        <p:spPr>
          <a:xfrm>
            <a:off x="731520" y="1417320"/>
            <a:ext cx="73152" cy="164592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8" name="TextBox 7"/>
          <p:cNvSpPr txBox="1"/>
          <p:nvPr/>
        </p:nvSpPr>
        <p:spPr>
          <a:xfrm>
            <a:off x="932688" y="1581912"/>
            <a:ext cx="2924198" cy="400110"/>
          </a:xfrm>
          <a:prstGeom prst="rect">
            <a:avLst/>
          </a:prstGeom>
          <a:noFill/>
        </p:spPr>
        <p:txBody>
          <a:bodyPr wrap="none">
            <a:spAutoFit/>
          </a:bodyPr>
          <a:lstStyle/>
          <a:p>
            <a:r>
              <a:rPr sz="2000" b="1">
                <a:solidFill>
                  <a:srgbClr val="192D4B"/>
                </a:solidFill>
                <a:latin typeface="Times" panose="02020603050405020304" pitchFamily="18" charset="0"/>
              </a:rPr>
              <a:t>Contribution consistency</a:t>
            </a:r>
          </a:p>
        </p:txBody>
      </p:sp>
      <p:sp>
        <p:nvSpPr>
          <p:cNvPr id="9" name="TextBox 8"/>
          <p:cNvSpPr txBox="1"/>
          <p:nvPr/>
        </p:nvSpPr>
        <p:spPr>
          <a:xfrm>
            <a:off x="932688" y="2057400"/>
            <a:ext cx="561372" cy="338554"/>
          </a:xfrm>
          <a:prstGeom prst="rect">
            <a:avLst/>
          </a:prstGeom>
          <a:noFill/>
        </p:spPr>
        <p:txBody>
          <a:bodyPr wrap="none">
            <a:spAutoFit/>
          </a:bodyPr>
          <a:lstStyle/>
          <a:p>
            <a:r>
              <a:rPr sz="1600">
                <a:solidFill>
                  <a:srgbClr val="23282D"/>
                </a:solidFill>
                <a:latin typeface="Times" panose="02020603050405020304" pitchFamily="18" charset="0"/>
              </a:rPr>
              <a:t>35%</a:t>
            </a:r>
          </a:p>
        </p:txBody>
      </p:sp>
      <p:sp>
        <p:nvSpPr>
          <p:cNvPr id="10" name="Rounded Rectangle 9"/>
          <p:cNvSpPr/>
          <p:nvPr/>
        </p:nvSpPr>
        <p:spPr>
          <a:xfrm>
            <a:off x="3520439"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1" name="Rectangle 10"/>
          <p:cNvSpPr/>
          <p:nvPr/>
        </p:nvSpPr>
        <p:spPr>
          <a:xfrm>
            <a:off x="3520439" y="1417320"/>
            <a:ext cx="73152" cy="164592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2" name="TextBox 11"/>
          <p:cNvSpPr txBox="1"/>
          <p:nvPr/>
        </p:nvSpPr>
        <p:spPr>
          <a:xfrm>
            <a:off x="3721607" y="1581912"/>
            <a:ext cx="2270173" cy="400110"/>
          </a:xfrm>
          <a:prstGeom prst="rect">
            <a:avLst/>
          </a:prstGeom>
          <a:noFill/>
        </p:spPr>
        <p:txBody>
          <a:bodyPr wrap="none">
            <a:spAutoFit/>
          </a:bodyPr>
          <a:lstStyle/>
          <a:p>
            <a:r>
              <a:rPr sz="2000" b="1">
                <a:solidFill>
                  <a:srgbClr val="192D4B"/>
                </a:solidFill>
                <a:latin typeface="Times" panose="02020603050405020304" pitchFamily="18" charset="0"/>
              </a:rPr>
              <a:t>Repayment history</a:t>
            </a:r>
          </a:p>
        </p:txBody>
      </p:sp>
      <p:sp>
        <p:nvSpPr>
          <p:cNvPr id="13" name="TextBox 12"/>
          <p:cNvSpPr txBox="1"/>
          <p:nvPr/>
        </p:nvSpPr>
        <p:spPr>
          <a:xfrm>
            <a:off x="3721607" y="2057400"/>
            <a:ext cx="561372" cy="338554"/>
          </a:xfrm>
          <a:prstGeom prst="rect">
            <a:avLst/>
          </a:prstGeom>
          <a:noFill/>
        </p:spPr>
        <p:txBody>
          <a:bodyPr wrap="none">
            <a:spAutoFit/>
          </a:bodyPr>
          <a:lstStyle/>
          <a:p>
            <a:r>
              <a:rPr sz="1600">
                <a:solidFill>
                  <a:srgbClr val="23282D"/>
                </a:solidFill>
                <a:latin typeface="Times" panose="02020603050405020304" pitchFamily="18" charset="0"/>
              </a:rPr>
              <a:t>35%</a:t>
            </a:r>
          </a:p>
        </p:txBody>
      </p:sp>
      <p:sp>
        <p:nvSpPr>
          <p:cNvPr id="14" name="Rounded Rectangle 13"/>
          <p:cNvSpPr/>
          <p:nvPr/>
        </p:nvSpPr>
        <p:spPr>
          <a:xfrm>
            <a:off x="6309359"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5" name="Rectangle 14"/>
          <p:cNvSpPr/>
          <p:nvPr/>
        </p:nvSpPr>
        <p:spPr>
          <a:xfrm>
            <a:off x="6309359" y="1417320"/>
            <a:ext cx="73152" cy="164592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6" name="TextBox 15"/>
          <p:cNvSpPr txBox="1"/>
          <p:nvPr/>
        </p:nvSpPr>
        <p:spPr>
          <a:xfrm>
            <a:off x="6510527" y="1581912"/>
            <a:ext cx="1438214" cy="400110"/>
          </a:xfrm>
          <a:prstGeom prst="rect">
            <a:avLst/>
          </a:prstGeom>
          <a:noFill/>
        </p:spPr>
        <p:txBody>
          <a:bodyPr wrap="none">
            <a:spAutoFit/>
          </a:bodyPr>
          <a:lstStyle/>
          <a:p>
            <a:r>
              <a:rPr sz="2000" b="1">
                <a:solidFill>
                  <a:srgbClr val="192D4B"/>
                </a:solidFill>
                <a:latin typeface="Times" panose="02020603050405020304" pitchFamily="18" charset="0"/>
              </a:rPr>
              <a:t>Attendance</a:t>
            </a:r>
          </a:p>
        </p:txBody>
      </p:sp>
      <p:sp>
        <p:nvSpPr>
          <p:cNvPr id="17" name="TextBox 16"/>
          <p:cNvSpPr txBox="1"/>
          <p:nvPr/>
        </p:nvSpPr>
        <p:spPr>
          <a:xfrm>
            <a:off x="6510527" y="2057400"/>
            <a:ext cx="561372" cy="338554"/>
          </a:xfrm>
          <a:prstGeom prst="rect">
            <a:avLst/>
          </a:prstGeom>
          <a:noFill/>
        </p:spPr>
        <p:txBody>
          <a:bodyPr wrap="none">
            <a:spAutoFit/>
          </a:bodyPr>
          <a:lstStyle/>
          <a:p>
            <a:r>
              <a:rPr sz="1600">
                <a:solidFill>
                  <a:srgbClr val="23282D"/>
                </a:solidFill>
                <a:latin typeface="Times" panose="02020603050405020304" pitchFamily="18" charset="0"/>
              </a:rPr>
              <a:t>15%</a:t>
            </a:r>
          </a:p>
        </p:txBody>
      </p:sp>
      <p:sp>
        <p:nvSpPr>
          <p:cNvPr id="18" name="Rounded Rectangle 17"/>
          <p:cNvSpPr/>
          <p:nvPr/>
        </p:nvSpPr>
        <p:spPr>
          <a:xfrm>
            <a:off x="9098280" y="1417320"/>
            <a:ext cx="2468880" cy="164592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9" name="Rectangle 18"/>
          <p:cNvSpPr/>
          <p:nvPr/>
        </p:nvSpPr>
        <p:spPr>
          <a:xfrm>
            <a:off x="9098280" y="1417320"/>
            <a:ext cx="73152" cy="164592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0" name="TextBox 19"/>
          <p:cNvSpPr txBox="1"/>
          <p:nvPr/>
        </p:nvSpPr>
        <p:spPr>
          <a:xfrm>
            <a:off x="9299448" y="1581912"/>
            <a:ext cx="2597186" cy="400110"/>
          </a:xfrm>
          <a:prstGeom prst="rect">
            <a:avLst/>
          </a:prstGeom>
          <a:noFill/>
        </p:spPr>
        <p:txBody>
          <a:bodyPr wrap="none">
            <a:spAutoFit/>
          </a:bodyPr>
          <a:lstStyle/>
          <a:p>
            <a:r>
              <a:rPr sz="2000" b="1">
                <a:solidFill>
                  <a:srgbClr val="192D4B"/>
                </a:solidFill>
                <a:latin typeface="Times" panose="02020603050405020304" pitchFamily="18" charset="0"/>
              </a:rPr>
              <a:t>Membership duration</a:t>
            </a:r>
          </a:p>
        </p:txBody>
      </p:sp>
      <p:sp>
        <p:nvSpPr>
          <p:cNvPr id="21" name="TextBox 20"/>
          <p:cNvSpPr txBox="1"/>
          <p:nvPr/>
        </p:nvSpPr>
        <p:spPr>
          <a:xfrm>
            <a:off x="9299448" y="2057400"/>
            <a:ext cx="561372" cy="338554"/>
          </a:xfrm>
          <a:prstGeom prst="rect">
            <a:avLst/>
          </a:prstGeom>
          <a:noFill/>
        </p:spPr>
        <p:txBody>
          <a:bodyPr wrap="none">
            <a:spAutoFit/>
          </a:bodyPr>
          <a:lstStyle/>
          <a:p>
            <a:r>
              <a:rPr sz="1600">
                <a:solidFill>
                  <a:srgbClr val="23282D"/>
                </a:solidFill>
                <a:latin typeface="Times" panose="02020603050405020304" pitchFamily="18" charset="0"/>
              </a:rPr>
              <a:t>15%</a:t>
            </a:r>
          </a:p>
        </p:txBody>
      </p:sp>
      <p:sp>
        <p:nvSpPr>
          <p:cNvPr id="22" name="Rounded Rectangle 21"/>
          <p:cNvSpPr/>
          <p:nvPr/>
        </p:nvSpPr>
        <p:spPr>
          <a:xfrm>
            <a:off x="86868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3282D"/>
                </a:solidFill>
                <a:latin typeface="Times" panose="02020603050405020304" pitchFamily="18" charset="0"/>
              </a:rPr>
              <a:t>Member activity</a:t>
            </a:r>
          </a:p>
        </p:txBody>
      </p:sp>
      <p:sp>
        <p:nvSpPr>
          <p:cNvPr id="23" name="Chevron 22"/>
          <p:cNvSpPr/>
          <p:nvPr/>
        </p:nvSpPr>
        <p:spPr>
          <a:xfrm>
            <a:off x="262432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4" name="Rounded Rectangle 23"/>
          <p:cNvSpPr/>
          <p:nvPr/>
        </p:nvSpPr>
        <p:spPr>
          <a:xfrm>
            <a:off x="310896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3282D"/>
                </a:solidFill>
                <a:latin typeface="Times" panose="02020603050405020304" pitchFamily="18" charset="0"/>
              </a:rPr>
              <a:t>Scoring model</a:t>
            </a:r>
          </a:p>
        </p:txBody>
      </p:sp>
      <p:sp>
        <p:nvSpPr>
          <p:cNvPr id="25" name="Chevron 24"/>
          <p:cNvSpPr/>
          <p:nvPr/>
        </p:nvSpPr>
        <p:spPr>
          <a:xfrm>
            <a:off x="486460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6" name="Rounded Rectangle 25"/>
          <p:cNvSpPr/>
          <p:nvPr/>
        </p:nvSpPr>
        <p:spPr>
          <a:xfrm>
            <a:off x="534924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3282D"/>
                </a:solidFill>
                <a:latin typeface="Times" panose="02020603050405020304" pitchFamily="18" charset="0"/>
              </a:rPr>
              <a:t>Advisory score</a:t>
            </a:r>
          </a:p>
        </p:txBody>
      </p:sp>
      <p:sp>
        <p:nvSpPr>
          <p:cNvPr id="27" name="Chevron 26"/>
          <p:cNvSpPr/>
          <p:nvPr/>
        </p:nvSpPr>
        <p:spPr>
          <a:xfrm>
            <a:off x="710488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28" name="Rounded Rectangle 27"/>
          <p:cNvSpPr/>
          <p:nvPr/>
        </p:nvSpPr>
        <p:spPr>
          <a:xfrm>
            <a:off x="758952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3282D"/>
                </a:solidFill>
                <a:latin typeface="Times" panose="02020603050405020304" pitchFamily="18" charset="0"/>
              </a:rPr>
              <a:t>Committee review</a:t>
            </a:r>
          </a:p>
        </p:txBody>
      </p:sp>
      <p:sp>
        <p:nvSpPr>
          <p:cNvPr id="29" name="Chevron 28"/>
          <p:cNvSpPr/>
          <p:nvPr/>
        </p:nvSpPr>
        <p:spPr>
          <a:xfrm>
            <a:off x="9345168" y="4041648"/>
            <a:ext cx="347472" cy="329184"/>
          </a:xfrm>
          <a:prstGeom prst="chevron">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30" name="Rounded Rectangle 29"/>
          <p:cNvSpPr/>
          <p:nvPr/>
        </p:nvSpPr>
        <p:spPr>
          <a:xfrm>
            <a:off x="9829800" y="3840480"/>
            <a:ext cx="1737360" cy="731520"/>
          </a:xfrm>
          <a:prstGeom prst="roundRect">
            <a:avLst/>
          </a:prstGeom>
          <a:solidFill>
            <a:srgbClr val="F2F5F8"/>
          </a:solidFill>
          <a:ln>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23282D"/>
                </a:solidFill>
                <a:latin typeface="Times" panose="02020603050405020304" pitchFamily="18" charset="0"/>
              </a:rPr>
              <a:t>Decision</a:t>
            </a:r>
          </a:p>
        </p:txBody>
      </p:sp>
      <p:sp>
        <p:nvSpPr>
          <p:cNvPr id="31" name="TextBox 30"/>
          <p:cNvSpPr txBox="1"/>
          <p:nvPr/>
        </p:nvSpPr>
        <p:spPr>
          <a:xfrm>
            <a:off x="-167257" y="4983480"/>
            <a:ext cx="12318073" cy="707886"/>
          </a:xfrm>
          <a:prstGeom prst="rect">
            <a:avLst/>
          </a:prstGeom>
          <a:noFill/>
        </p:spPr>
        <p:txBody>
          <a:bodyPr wrap="square">
            <a:spAutoFit/>
          </a:bodyPr>
          <a:lstStyle/>
          <a:p>
            <a:pPr algn="ctr"/>
            <a:r>
              <a:rPr sz="2000" b="1" dirty="0">
                <a:solidFill>
                  <a:srgbClr val="192D4B"/>
                </a:solidFill>
                <a:latin typeface="Times" panose="02020603050405020304" pitchFamily="18" charset="0"/>
              </a:rPr>
              <a:t>Human authority is retained: the score informs the committee; it does not approve or reject a loan automatically.</a:t>
            </a:r>
          </a:p>
        </p:txBody>
      </p:sp>
      <p:sp>
        <p:nvSpPr>
          <p:cNvPr id="32" name="TextBox 31"/>
          <p:cNvSpPr txBox="1"/>
          <p:nvPr/>
        </p:nvSpPr>
        <p:spPr>
          <a:xfrm>
            <a:off x="8604352" y="6473952"/>
            <a:ext cx="2779928" cy="246221"/>
          </a:xfrm>
          <a:prstGeom prst="rect">
            <a:avLst/>
          </a:prstGeom>
          <a:noFill/>
        </p:spPr>
        <p:txBody>
          <a:bodyPr wrap="none">
            <a:spAutoFit/>
          </a:bodyPr>
          <a:lstStyle/>
          <a:p>
            <a:pPr algn="r"/>
            <a:r>
              <a:rPr sz="1000">
                <a:solidFill>
                  <a:srgbClr val="69737D"/>
                </a:solidFill>
                <a:latin typeface="Times" panose="02020603050405020304" pitchFamily="18" charset="0"/>
              </a:rPr>
              <a:t>ChamaPlus | Mount Kenya University | 2025/2026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4" name="TextBox 3"/>
          <p:cNvSpPr txBox="1"/>
          <p:nvPr/>
        </p:nvSpPr>
        <p:spPr>
          <a:xfrm>
            <a:off x="594360" y="320040"/>
            <a:ext cx="4185761" cy="584775"/>
          </a:xfrm>
          <a:prstGeom prst="rect">
            <a:avLst/>
          </a:prstGeom>
          <a:noFill/>
        </p:spPr>
        <p:txBody>
          <a:bodyPr wrap="none">
            <a:spAutoFit/>
          </a:bodyPr>
          <a:lstStyle/>
          <a:p>
            <a:r>
              <a:rPr sz="3200" b="1">
                <a:solidFill>
                  <a:srgbClr val="192D4B"/>
                </a:solidFill>
                <a:latin typeface="Times" panose="02020603050405020304" pitchFamily="18" charset="0"/>
              </a:rPr>
              <a:t>6. System Architecture</a:t>
            </a:r>
          </a:p>
        </p:txBody>
      </p:sp>
      <p:sp>
        <p:nvSpPr>
          <p:cNvPr id="5" name="TextBox 4"/>
          <p:cNvSpPr txBox="1"/>
          <p:nvPr/>
        </p:nvSpPr>
        <p:spPr>
          <a:xfrm>
            <a:off x="612648" y="841248"/>
            <a:ext cx="4594528" cy="338554"/>
          </a:xfrm>
          <a:prstGeom prst="rect">
            <a:avLst/>
          </a:prstGeom>
          <a:noFill/>
        </p:spPr>
        <p:txBody>
          <a:bodyPr wrap="none">
            <a:spAutoFit/>
          </a:bodyPr>
          <a:lstStyle/>
          <a:p>
            <a:r>
              <a:rPr sz="1600">
                <a:solidFill>
                  <a:srgbClr val="69737D"/>
                </a:solidFill>
                <a:latin typeface="Times" panose="02020603050405020304" pitchFamily="18" charset="0"/>
              </a:rPr>
              <a:t>How the mobile platform is connected to the backend</a:t>
            </a:r>
          </a:p>
        </p:txBody>
      </p:sp>
      <p:sp>
        <p:nvSpPr>
          <p:cNvPr id="6" name="Rounded Rectangle 5"/>
          <p:cNvSpPr/>
          <p:nvPr/>
        </p:nvSpPr>
        <p:spPr>
          <a:xfrm>
            <a:off x="1828800" y="1325880"/>
            <a:ext cx="8503920" cy="1005840"/>
          </a:xfrm>
          <a:prstGeom prst="roundRect">
            <a:avLst/>
          </a:prstGeom>
          <a:solidFill>
            <a:srgbClr val="E5EDF7"/>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7" name="TextBox 6"/>
          <p:cNvSpPr txBox="1"/>
          <p:nvPr/>
        </p:nvSpPr>
        <p:spPr>
          <a:xfrm>
            <a:off x="2103120" y="1435607"/>
            <a:ext cx="2531462" cy="400110"/>
          </a:xfrm>
          <a:prstGeom prst="rect">
            <a:avLst/>
          </a:prstGeom>
          <a:noFill/>
        </p:spPr>
        <p:txBody>
          <a:bodyPr wrap="none">
            <a:spAutoFit/>
          </a:bodyPr>
          <a:lstStyle/>
          <a:p>
            <a:r>
              <a:rPr sz="2000" b="1">
                <a:solidFill>
                  <a:srgbClr val="192D4B"/>
                </a:solidFill>
                <a:latin typeface="Times" panose="02020603050405020304" pitchFamily="18" charset="0"/>
              </a:rPr>
              <a:t>Presentation / Mobile</a:t>
            </a:r>
          </a:p>
        </p:txBody>
      </p:sp>
      <p:sp>
        <p:nvSpPr>
          <p:cNvPr id="8" name="TextBox 7"/>
          <p:cNvSpPr txBox="1"/>
          <p:nvPr/>
        </p:nvSpPr>
        <p:spPr>
          <a:xfrm>
            <a:off x="4343400" y="1435607"/>
            <a:ext cx="4011034" cy="584775"/>
          </a:xfrm>
          <a:prstGeom prst="rect">
            <a:avLst/>
          </a:prstGeom>
          <a:noFill/>
        </p:spPr>
        <p:txBody>
          <a:bodyPr wrap="none">
            <a:spAutoFit/>
          </a:bodyPr>
          <a:lstStyle/>
          <a:p>
            <a:r>
              <a:rPr sz="1600">
                <a:solidFill>
                  <a:srgbClr val="23282D"/>
                </a:solidFill>
                <a:latin typeface="Times" panose="02020603050405020304" pitchFamily="18" charset="0"/>
              </a:rPr>
              <a:t>Flutter + Dart
Feature-based modules • Riverpod • GoRouter</a:t>
            </a:r>
          </a:p>
        </p:txBody>
      </p:sp>
      <p:sp>
        <p:nvSpPr>
          <p:cNvPr id="9" name="Down Arrow 8"/>
          <p:cNvSpPr/>
          <p:nvPr/>
        </p:nvSpPr>
        <p:spPr>
          <a:xfrm>
            <a:off x="5715000" y="2331720"/>
            <a:ext cx="731520" cy="347472"/>
          </a:xfrm>
          <a:prstGeom prst="downArrow">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0" name="Rounded Rectangle 9"/>
          <p:cNvSpPr/>
          <p:nvPr/>
        </p:nvSpPr>
        <p:spPr>
          <a:xfrm>
            <a:off x="1828800" y="2743200"/>
            <a:ext cx="8503920" cy="1005840"/>
          </a:xfrm>
          <a:prstGeom prst="roundRect">
            <a:avLst/>
          </a:prstGeom>
          <a:solidFill>
            <a:srgbClr val="E6F2F2"/>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1" name="TextBox 10"/>
          <p:cNvSpPr txBox="1"/>
          <p:nvPr/>
        </p:nvSpPr>
        <p:spPr>
          <a:xfrm>
            <a:off x="2103120" y="2852928"/>
            <a:ext cx="2106667" cy="400110"/>
          </a:xfrm>
          <a:prstGeom prst="rect">
            <a:avLst/>
          </a:prstGeom>
          <a:noFill/>
        </p:spPr>
        <p:txBody>
          <a:bodyPr wrap="none">
            <a:spAutoFit/>
          </a:bodyPr>
          <a:lstStyle/>
          <a:p>
            <a:r>
              <a:rPr sz="2000" b="1">
                <a:solidFill>
                  <a:srgbClr val="192D4B"/>
                </a:solidFill>
                <a:latin typeface="Times" panose="02020603050405020304" pitchFamily="18" charset="0"/>
              </a:rPr>
              <a:t>API / Application</a:t>
            </a:r>
          </a:p>
        </p:txBody>
      </p:sp>
      <p:sp>
        <p:nvSpPr>
          <p:cNvPr id="12" name="TextBox 11"/>
          <p:cNvSpPr txBox="1"/>
          <p:nvPr/>
        </p:nvSpPr>
        <p:spPr>
          <a:xfrm>
            <a:off x="4343400" y="2852928"/>
            <a:ext cx="4153701" cy="584775"/>
          </a:xfrm>
          <a:prstGeom prst="rect">
            <a:avLst/>
          </a:prstGeom>
          <a:noFill/>
        </p:spPr>
        <p:txBody>
          <a:bodyPr wrap="none">
            <a:spAutoFit/>
          </a:bodyPr>
          <a:lstStyle/>
          <a:p>
            <a:r>
              <a:rPr sz="1600">
                <a:solidFill>
                  <a:srgbClr val="23282D"/>
                </a:solidFill>
                <a:latin typeface="Times" panose="02020603050405020304" pitchFamily="18" charset="0"/>
              </a:rPr>
              <a:t>Django + Django REST Framework
Authentication • permissions • business services</a:t>
            </a:r>
          </a:p>
        </p:txBody>
      </p:sp>
      <p:sp>
        <p:nvSpPr>
          <p:cNvPr id="13" name="Down Arrow 12"/>
          <p:cNvSpPr/>
          <p:nvPr/>
        </p:nvSpPr>
        <p:spPr>
          <a:xfrm>
            <a:off x="5715000" y="3749039"/>
            <a:ext cx="731520" cy="347472"/>
          </a:xfrm>
          <a:prstGeom prst="downArrow">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4" name="Rounded Rectangle 13"/>
          <p:cNvSpPr/>
          <p:nvPr/>
        </p:nvSpPr>
        <p:spPr>
          <a:xfrm>
            <a:off x="1828800" y="4160520"/>
            <a:ext cx="8503920" cy="1005840"/>
          </a:xfrm>
          <a:prstGeom prst="roundRect">
            <a:avLst/>
          </a:prstGeom>
          <a:solidFill>
            <a:srgbClr val="ECF0F5"/>
          </a:solidFill>
          <a:ln>
            <a:solidFill>
              <a:srgbClr val="CD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15" name="TextBox 14"/>
          <p:cNvSpPr txBox="1"/>
          <p:nvPr/>
        </p:nvSpPr>
        <p:spPr>
          <a:xfrm>
            <a:off x="2103120" y="4270248"/>
            <a:ext cx="712054" cy="400110"/>
          </a:xfrm>
          <a:prstGeom prst="rect">
            <a:avLst/>
          </a:prstGeom>
          <a:noFill/>
        </p:spPr>
        <p:txBody>
          <a:bodyPr wrap="none">
            <a:spAutoFit/>
          </a:bodyPr>
          <a:lstStyle/>
          <a:p>
            <a:r>
              <a:rPr sz="2000" b="1">
                <a:solidFill>
                  <a:srgbClr val="192D4B"/>
                </a:solidFill>
                <a:latin typeface="Times" panose="02020603050405020304" pitchFamily="18" charset="0"/>
              </a:rPr>
              <a:t>Data</a:t>
            </a:r>
          </a:p>
        </p:txBody>
      </p:sp>
      <p:sp>
        <p:nvSpPr>
          <p:cNvPr id="16" name="TextBox 15"/>
          <p:cNvSpPr txBox="1"/>
          <p:nvPr/>
        </p:nvSpPr>
        <p:spPr>
          <a:xfrm>
            <a:off x="4343400" y="4270248"/>
            <a:ext cx="5665333" cy="584775"/>
          </a:xfrm>
          <a:prstGeom prst="rect">
            <a:avLst/>
          </a:prstGeom>
          <a:noFill/>
        </p:spPr>
        <p:txBody>
          <a:bodyPr wrap="none">
            <a:spAutoFit/>
          </a:bodyPr>
          <a:lstStyle/>
          <a:p>
            <a:r>
              <a:rPr sz="1600">
                <a:solidFill>
                  <a:srgbClr val="23282D"/>
                </a:solidFill>
                <a:latin typeface="Times" panose="02020603050405020304" pitchFamily="18" charset="0"/>
              </a:rPr>
              <a:t>MySQL relational database
Users • memberships • contributions • loans • governance • reports</a:t>
            </a:r>
          </a:p>
        </p:txBody>
      </p:sp>
      <p:sp>
        <p:nvSpPr>
          <p:cNvPr id="17" name="TextBox 16"/>
          <p:cNvSpPr txBox="1"/>
          <p:nvPr/>
        </p:nvSpPr>
        <p:spPr>
          <a:xfrm>
            <a:off x="1964890" y="5623560"/>
            <a:ext cx="8231741" cy="369332"/>
          </a:xfrm>
          <a:prstGeom prst="rect">
            <a:avLst/>
          </a:prstGeom>
          <a:noFill/>
        </p:spPr>
        <p:txBody>
          <a:bodyPr wrap="none">
            <a:spAutoFit/>
          </a:bodyPr>
          <a:lstStyle/>
          <a:p>
            <a:pPr algn="ctr"/>
            <a:r>
              <a:rPr b="1">
                <a:solidFill>
                  <a:srgbClr val="287878"/>
                </a:solidFill>
                <a:latin typeface="Times" panose="02020603050405020304" pitchFamily="18" charset="0"/>
              </a:rPr>
              <a:t>Implemented backend: 12 Django apps • 17 domain tables • 78 business endpoints</a:t>
            </a:r>
          </a:p>
        </p:txBody>
      </p:sp>
      <p:sp>
        <p:nvSpPr>
          <p:cNvPr id="18" name="TextBox 17"/>
          <p:cNvSpPr txBox="1"/>
          <p:nvPr/>
        </p:nvSpPr>
        <p:spPr>
          <a:xfrm>
            <a:off x="8604352" y="6473952"/>
            <a:ext cx="2779928" cy="246221"/>
          </a:xfrm>
          <a:prstGeom prst="rect">
            <a:avLst/>
          </a:prstGeom>
          <a:noFill/>
        </p:spPr>
        <p:txBody>
          <a:bodyPr wrap="none">
            <a:spAutoFit/>
          </a:bodyPr>
          <a:lstStyle/>
          <a:p>
            <a:pPr algn="r"/>
            <a:r>
              <a:rPr sz="1000">
                <a:solidFill>
                  <a:srgbClr val="69737D"/>
                </a:solidFill>
                <a:latin typeface="Times" panose="02020603050405020304" pitchFamily="18" charset="0"/>
              </a:rPr>
              <a:t>ChamaPlus | Mount Kenya University | 2025/2026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4" name="TextBox 3"/>
          <p:cNvSpPr txBox="1"/>
          <p:nvPr/>
        </p:nvSpPr>
        <p:spPr>
          <a:xfrm>
            <a:off x="594360" y="320040"/>
            <a:ext cx="8892178" cy="646331"/>
          </a:xfrm>
          <a:prstGeom prst="rect">
            <a:avLst/>
          </a:prstGeom>
          <a:noFill/>
        </p:spPr>
        <p:txBody>
          <a:bodyPr wrap="none">
            <a:spAutoFit/>
          </a:bodyPr>
          <a:lstStyle/>
          <a:p>
            <a:r>
              <a:rPr sz="3600" b="1">
                <a:solidFill>
                  <a:srgbClr val="192D4B"/>
                </a:solidFill>
                <a:latin typeface="Times" panose="02020603050405020304" pitchFamily="18" charset="0"/>
              </a:rPr>
              <a:t>7. Methodology and Development Approach</a:t>
            </a:r>
          </a:p>
        </p:txBody>
      </p:sp>
      <p:sp>
        <p:nvSpPr>
          <p:cNvPr id="5" name="TextBox 4"/>
          <p:cNvSpPr txBox="1"/>
          <p:nvPr/>
        </p:nvSpPr>
        <p:spPr>
          <a:xfrm>
            <a:off x="612648" y="841248"/>
            <a:ext cx="5129930" cy="369332"/>
          </a:xfrm>
          <a:prstGeom prst="rect">
            <a:avLst/>
          </a:prstGeom>
          <a:noFill/>
        </p:spPr>
        <p:txBody>
          <a:bodyPr wrap="none">
            <a:spAutoFit/>
          </a:bodyPr>
          <a:lstStyle/>
          <a:p>
            <a:r>
              <a:rPr>
                <a:solidFill>
                  <a:srgbClr val="69737D"/>
                </a:solidFill>
                <a:latin typeface="Times" panose="02020603050405020304" pitchFamily="18" charset="0"/>
              </a:rPr>
              <a:t>Research approach + software development approach</a:t>
            </a:r>
          </a:p>
        </p:txBody>
      </p:sp>
      <p:sp>
        <p:nvSpPr>
          <p:cNvPr id="6" name="Rounded Rectangle 5"/>
          <p:cNvSpPr/>
          <p:nvPr/>
        </p:nvSpPr>
        <p:spPr>
          <a:xfrm>
            <a:off x="731520" y="1325880"/>
            <a:ext cx="521208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7" name="Rectangle 6"/>
          <p:cNvSpPr/>
          <p:nvPr/>
        </p:nvSpPr>
        <p:spPr>
          <a:xfrm>
            <a:off x="731520" y="1325880"/>
            <a:ext cx="73152" cy="356616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8" name="TextBox 7"/>
          <p:cNvSpPr txBox="1"/>
          <p:nvPr/>
        </p:nvSpPr>
        <p:spPr>
          <a:xfrm>
            <a:off x="932688" y="1490472"/>
            <a:ext cx="2723823" cy="461665"/>
          </a:xfrm>
          <a:prstGeom prst="rect">
            <a:avLst/>
          </a:prstGeom>
          <a:noFill/>
        </p:spPr>
        <p:txBody>
          <a:bodyPr wrap="none">
            <a:spAutoFit/>
          </a:bodyPr>
          <a:lstStyle/>
          <a:p>
            <a:r>
              <a:rPr sz="2400" b="1">
                <a:solidFill>
                  <a:srgbClr val="192D4B"/>
                </a:solidFill>
                <a:latin typeface="Times" panose="02020603050405020304" pitchFamily="18" charset="0"/>
              </a:rPr>
              <a:t>Research approach</a:t>
            </a:r>
          </a:p>
        </p:txBody>
      </p:sp>
      <p:sp>
        <p:nvSpPr>
          <p:cNvPr id="9" name="TextBox 8"/>
          <p:cNvSpPr txBox="1"/>
          <p:nvPr/>
        </p:nvSpPr>
        <p:spPr>
          <a:xfrm>
            <a:off x="932688" y="1965960"/>
            <a:ext cx="4095993" cy="1754326"/>
          </a:xfrm>
          <a:prstGeom prst="rect">
            <a:avLst/>
          </a:prstGeom>
          <a:noFill/>
        </p:spPr>
        <p:txBody>
          <a:bodyPr wrap="none">
            <a:spAutoFit/>
          </a:bodyPr>
          <a:lstStyle/>
          <a:p>
            <a:r>
              <a:rPr>
                <a:solidFill>
                  <a:srgbClr val="23282D"/>
                </a:solidFill>
                <a:latin typeface="Times" panose="02020603050405020304" pitchFamily="18" charset="0"/>
              </a:rPr>
              <a:t>Applied design-and-development research
• Problem identification
• Requirements analysis
• Artefact design and development
• Evaluation of the prototype</a:t>
            </a:r>
          </a:p>
        </p:txBody>
      </p:sp>
      <p:sp>
        <p:nvSpPr>
          <p:cNvPr id="10" name="Rounded Rectangle 9"/>
          <p:cNvSpPr/>
          <p:nvPr/>
        </p:nvSpPr>
        <p:spPr>
          <a:xfrm>
            <a:off x="6263640" y="1325880"/>
            <a:ext cx="521208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1" name="Rectangle 10"/>
          <p:cNvSpPr/>
          <p:nvPr/>
        </p:nvSpPr>
        <p:spPr>
          <a:xfrm>
            <a:off x="6263640" y="1325880"/>
            <a:ext cx="73152" cy="356616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2" name="TextBox 11"/>
          <p:cNvSpPr txBox="1"/>
          <p:nvPr/>
        </p:nvSpPr>
        <p:spPr>
          <a:xfrm>
            <a:off x="6464807" y="1490472"/>
            <a:ext cx="3116559" cy="461665"/>
          </a:xfrm>
          <a:prstGeom prst="rect">
            <a:avLst/>
          </a:prstGeom>
          <a:noFill/>
        </p:spPr>
        <p:txBody>
          <a:bodyPr wrap="none">
            <a:spAutoFit/>
          </a:bodyPr>
          <a:lstStyle/>
          <a:p>
            <a:r>
              <a:rPr sz="2400" b="1">
                <a:solidFill>
                  <a:srgbClr val="192D4B"/>
                </a:solidFill>
                <a:latin typeface="Times" panose="02020603050405020304" pitchFamily="18" charset="0"/>
              </a:rPr>
              <a:t>Software development</a:t>
            </a:r>
          </a:p>
        </p:txBody>
      </p:sp>
      <p:sp>
        <p:nvSpPr>
          <p:cNvPr id="13" name="TextBox 12"/>
          <p:cNvSpPr txBox="1"/>
          <p:nvPr/>
        </p:nvSpPr>
        <p:spPr>
          <a:xfrm>
            <a:off x="6464807" y="1965959"/>
            <a:ext cx="4919473" cy="2031325"/>
          </a:xfrm>
          <a:prstGeom prst="rect">
            <a:avLst/>
          </a:prstGeom>
          <a:noFill/>
        </p:spPr>
        <p:txBody>
          <a:bodyPr wrap="square">
            <a:spAutoFit/>
          </a:bodyPr>
          <a:lstStyle/>
          <a:p>
            <a:r>
              <a:rPr dirty="0">
                <a:solidFill>
                  <a:srgbClr val="23282D"/>
                </a:solidFill>
                <a:latin typeface="Times" panose="02020603050405020304" pitchFamily="18" charset="0"/>
              </a:rPr>
              <a:t>Agile iterative and incremental development
Requirements → Design → Implement → Test → Refine → Next increment
Modules were developed progressively with continuous testing.</a:t>
            </a:r>
          </a:p>
        </p:txBody>
      </p:sp>
      <p:sp>
        <p:nvSpPr>
          <p:cNvPr id="14" name="TextBox 13"/>
          <p:cNvSpPr txBox="1"/>
          <p:nvPr/>
        </p:nvSpPr>
        <p:spPr>
          <a:xfrm>
            <a:off x="8477714" y="6473952"/>
            <a:ext cx="2906566" cy="253916"/>
          </a:xfrm>
          <a:prstGeom prst="rect">
            <a:avLst/>
          </a:prstGeom>
          <a:noFill/>
        </p:spPr>
        <p:txBody>
          <a:bodyPr wrap="none">
            <a:spAutoFit/>
          </a:bodyPr>
          <a:lstStyle/>
          <a:p>
            <a:pPr algn="r"/>
            <a:r>
              <a:rPr sz="1050">
                <a:solidFill>
                  <a:srgbClr val="69737D"/>
                </a:solidFill>
                <a:latin typeface="Times" panose="02020603050405020304" pitchFamily="18" charset="0"/>
              </a:rPr>
              <a:t>ChamaPlus | Mount Kenya University | 2025/2026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4" name="TextBox 3"/>
          <p:cNvSpPr txBox="1"/>
          <p:nvPr/>
        </p:nvSpPr>
        <p:spPr>
          <a:xfrm>
            <a:off x="594360" y="320040"/>
            <a:ext cx="7250703" cy="646331"/>
          </a:xfrm>
          <a:prstGeom prst="rect">
            <a:avLst/>
          </a:prstGeom>
          <a:noFill/>
        </p:spPr>
        <p:txBody>
          <a:bodyPr wrap="none">
            <a:spAutoFit/>
          </a:bodyPr>
          <a:lstStyle/>
          <a:p>
            <a:r>
              <a:rPr sz="3600" b="1">
                <a:solidFill>
                  <a:srgbClr val="192D4B"/>
                </a:solidFill>
                <a:latin typeface="Times" panose="02020603050405020304" pitchFamily="18" charset="0"/>
              </a:rPr>
              <a:t>8. What Was Actually Implemented</a:t>
            </a:r>
          </a:p>
        </p:txBody>
      </p:sp>
      <p:sp>
        <p:nvSpPr>
          <p:cNvPr id="5" name="TextBox 4"/>
          <p:cNvSpPr txBox="1"/>
          <p:nvPr/>
        </p:nvSpPr>
        <p:spPr>
          <a:xfrm>
            <a:off x="612648" y="841248"/>
            <a:ext cx="1665841" cy="369332"/>
          </a:xfrm>
          <a:prstGeom prst="rect">
            <a:avLst/>
          </a:prstGeom>
          <a:noFill/>
        </p:spPr>
        <p:txBody>
          <a:bodyPr wrap="none">
            <a:spAutoFit/>
          </a:bodyPr>
          <a:lstStyle/>
          <a:p>
            <a:r>
              <a:rPr>
                <a:solidFill>
                  <a:srgbClr val="69737D"/>
                </a:solidFill>
                <a:latin typeface="Times" panose="02020603050405020304" pitchFamily="18" charset="0"/>
              </a:rPr>
              <a:t>Prototype scope</a:t>
            </a:r>
          </a:p>
        </p:txBody>
      </p:sp>
      <p:sp>
        <p:nvSpPr>
          <p:cNvPr id="6" name="Rounded Rectangle 5"/>
          <p:cNvSpPr/>
          <p:nvPr/>
        </p:nvSpPr>
        <p:spPr>
          <a:xfrm>
            <a:off x="685800" y="132588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7" name="Rectangle 6"/>
          <p:cNvSpPr/>
          <p:nvPr/>
        </p:nvSpPr>
        <p:spPr>
          <a:xfrm>
            <a:off x="685800" y="1325880"/>
            <a:ext cx="73152" cy="182880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8" name="TextBox 7"/>
          <p:cNvSpPr txBox="1"/>
          <p:nvPr/>
        </p:nvSpPr>
        <p:spPr>
          <a:xfrm>
            <a:off x="886968" y="1490472"/>
            <a:ext cx="4084773" cy="461665"/>
          </a:xfrm>
          <a:prstGeom prst="rect">
            <a:avLst/>
          </a:prstGeom>
          <a:noFill/>
        </p:spPr>
        <p:txBody>
          <a:bodyPr wrap="none">
            <a:spAutoFit/>
          </a:bodyPr>
          <a:lstStyle/>
          <a:p>
            <a:r>
              <a:rPr sz="2400" b="1">
                <a:solidFill>
                  <a:srgbClr val="192D4B"/>
                </a:solidFill>
                <a:latin typeface="Times" panose="02020603050405020304" pitchFamily="18" charset="0"/>
              </a:rPr>
              <a:t>Authentication &amp; onboarding</a:t>
            </a:r>
          </a:p>
        </p:txBody>
      </p:sp>
      <p:sp>
        <p:nvSpPr>
          <p:cNvPr id="9" name="TextBox 8"/>
          <p:cNvSpPr txBox="1"/>
          <p:nvPr/>
        </p:nvSpPr>
        <p:spPr>
          <a:xfrm>
            <a:off x="886968" y="1965959"/>
            <a:ext cx="4824900" cy="646331"/>
          </a:xfrm>
          <a:prstGeom prst="rect">
            <a:avLst/>
          </a:prstGeom>
          <a:noFill/>
        </p:spPr>
        <p:txBody>
          <a:bodyPr wrap="square">
            <a:spAutoFit/>
          </a:bodyPr>
          <a:lstStyle/>
          <a:p>
            <a:r>
              <a:rPr dirty="0">
                <a:solidFill>
                  <a:srgbClr val="23282D"/>
                </a:solidFill>
                <a:latin typeface="Times" panose="02020603050405020304" pitchFamily="18" charset="0"/>
              </a:rPr>
              <a:t>Registration, login, password reset, </a:t>
            </a:r>
            <a:r>
              <a:rPr dirty="0" err="1">
                <a:solidFill>
                  <a:srgbClr val="23282D"/>
                </a:solidFill>
                <a:latin typeface="Times" panose="02020603050405020304" pitchFamily="18" charset="0"/>
              </a:rPr>
              <a:t>chama</a:t>
            </a:r>
            <a:r>
              <a:rPr dirty="0">
                <a:solidFill>
                  <a:srgbClr val="23282D"/>
                </a:solidFill>
                <a:latin typeface="Times" panose="02020603050405020304" pitchFamily="18" charset="0"/>
              </a:rPr>
              <a:t> creation/joining, invitations</a:t>
            </a:r>
          </a:p>
        </p:txBody>
      </p:sp>
      <p:sp>
        <p:nvSpPr>
          <p:cNvPr id="10" name="Rounded Rectangle 9"/>
          <p:cNvSpPr/>
          <p:nvPr/>
        </p:nvSpPr>
        <p:spPr>
          <a:xfrm>
            <a:off x="6217920" y="132588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1" name="Rectangle 10"/>
          <p:cNvSpPr/>
          <p:nvPr/>
        </p:nvSpPr>
        <p:spPr>
          <a:xfrm>
            <a:off x="6217920" y="1325880"/>
            <a:ext cx="73152" cy="182880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2" name="TextBox 11"/>
          <p:cNvSpPr txBox="1"/>
          <p:nvPr/>
        </p:nvSpPr>
        <p:spPr>
          <a:xfrm>
            <a:off x="6419088" y="1490472"/>
            <a:ext cx="2876108" cy="461665"/>
          </a:xfrm>
          <a:prstGeom prst="rect">
            <a:avLst/>
          </a:prstGeom>
          <a:noFill/>
        </p:spPr>
        <p:txBody>
          <a:bodyPr wrap="none">
            <a:spAutoFit/>
          </a:bodyPr>
          <a:lstStyle/>
          <a:p>
            <a:r>
              <a:rPr sz="2400" b="1">
                <a:solidFill>
                  <a:srgbClr val="192D4B"/>
                </a:solidFill>
                <a:latin typeface="Times" panose="02020603050405020304" pitchFamily="18" charset="0"/>
              </a:rPr>
              <a:t>Financial operations</a:t>
            </a:r>
          </a:p>
        </p:txBody>
      </p:sp>
      <p:sp>
        <p:nvSpPr>
          <p:cNvPr id="13" name="TextBox 12"/>
          <p:cNvSpPr txBox="1"/>
          <p:nvPr/>
        </p:nvSpPr>
        <p:spPr>
          <a:xfrm>
            <a:off x="6419088" y="1965960"/>
            <a:ext cx="4965192" cy="646331"/>
          </a:xfrm>
          <a:prstGeom prst="rect">
            <a:avLst/>
          </a:prstGeom>
          <a:noFill/>
        </p:spPr>
        <p:txBody>
          <a:bodyPr wrap="square">
            <a:spAutoFit/>
          </a:bodyPr>
          <a:lstStyle/>
          <a:p>
            <a:r>
              <a:rPr dirty="0">
                <a:solidFill>
                  <a:srgbClr val="23282D"/>
                </a:solidFill>
                <a:latin typeface="Times" panose="02020603050405020304" pitchFamily="18" charset="0"/>
              </a:rPr>
              <a:t>Contribution cycles, contributions, loan products, applications, voting, disbursement, repayments</a:t>
            </a:r>
          </a:p>
        </p:txBody>
      </p:sp>
      <p:sp>
        <p:nvSpPr>
          <p:cNvPr id="14" name="Rounded Rectangle 13"/>
          <p:cNvSpPr/>
          <p:nvPr/>
        </p:nvSpPr>
        <p:spPr>
          <a:xfrm>
            <a:off x="685800" y="347472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5" name="Rectangle 14"/>
          <p:cNvSpPr/>
          <p:nvPr/>
        </p:nvSpPr>
        <p:spPr>
          <a:xfrm>
            <a:off x="685800" y="3474720"/>
            <a:ext cx="73152" cy="1828800"/>
          </a:xfrm>
          <a:prstGeom prst="rect">
            <a:avLst/>
          </a:prstGeom>
          <a:solidFill>
            <a:srgbClr val="37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6" name="TextBox 15"/>
          <p:cNvSpPr txBox="1"/>
          <p:nvPr/>
        </p:nvSpPr>
        <p:spPr>
          <a:xfrm>
            <a:off x="886968" y="3639312"/>
            <a:ext cx="4217821" cy="461665"/>
          </a:xfrm>
          <a:prstGeom prst="rect">
            <a:avLst/>
          </a:prstGeom>
          <a:noFill/>
        </p:spPr>
        <p:txBody>
          <a:bodyPr wrap="none">
            <a:spAutoFit/>
          </a:bodyPr>
          <a:lstStyle/>
          <a:p>
            <a:r>
              <a:rPr sz="2400" b="1">
                <a:solidFill>
                  <a:srgbClr val="192D4B"/>
                </a:solidFill>
                <a:latin typeface="Times" panose="02020603050405020304" pitchFamily="18" charset="0"/>
              </a:rPr>
              <a:t>Governance &amp; communication</a:t>
            </a:r>
          </a:p>
        </p:txBody>
      </p:sp>
      <p:sp>
        <p:nvSpPr>
          <p:cNvPr id="17" name="TextBox 16"/>
          <p:cNvSpPr txBox="1"/>
          <p:nvPr/>
        </p:nvSpPr>
        <p:spPr>
          <a:xfrm>
            <a:off x="886968" y="4114800"/>
            <a:ext cx="4724705" cy="646331"/>
          </a:xfrm>
          <a:prstGeom prst="rect">
            <a:avLst/>
          </a:prstGeom>
          <a:noFill/>
        </p:spPr>
        <p:txBody>
          <a:bodyPr wrap="square">
            <a:spAutoFit/>
          </a:bodyPr>
          <a:lstStyle/>
          <a:p>
            <a:r>
              <a:rPr dirty="0">
                <a:solidFill>
                  <a:srgbClr val="23282D"/>
                </a:solidFill>
                <a:latin typeface="Times" panose="02020603050405020304" pitchFamily="18" charset="0"/>
              </a:rPr>
              <a:t>Meetings, attendance, minutes, action items, notifications</a:t>
            </a:r>
          </a:p>
        </p:txBody>
      </p:sp>
      <p:sp>
        <p:nvSpPr>
          <p:cNvPr id="18" name="Rounded Rectangle 17"/>
          <p:cNvSpPr/>
          <p:nvPr/>
        </p:nvSpPr>
        <p:spPr>
          <a:xfrm>
            <a:off x="6217920" y="3474720"/>
            <a:ext cx="5166360" cy="182880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9" name="Rectangle 18"/>
          <p:cNvSpPr/>
          <p:nvPr/>
        </p:nvSpPr>
        <p:spPr>
          <a:xfrm>
            <a:off x="6217920" y="3474720"/>
            <a:ext cx="73152" cy="1828800"/>
          </a:xfrm>
          <a:prstGeom prst="rect">
            <a:avLst/>
          </a:prstGeom>
          <a:solidFill>
            <a:srgbClr val="AF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20" name="TextBox 19"/>
          <p:cNvSpPr txBox="1"/>
          <p:nvPr/>
        </p:nvSpPr>
        <p:spPr>
          <a:xfrm>
            <a:off x="6419088" y="3639312"/>
            <a:ext cx="2953053" cy="461665"/>
          </a:xfrm>
          <a:prstGeom prst="rect">
            <a:avLst/>
          </a:prstGeom>
          <a:noFill/>
        </p:spPr>
        <p:txBody>
          <a:bodyPr wrap="none">
            <a:spAutoFit/>
          </a:bodyPr>
          <a:lstStyle/>
          <a:p>
            <a:r>
              <a:rPr sz="2400" b="1">
                <a:solidFill>
                  <a:srgbClr val="192D4B"/>
                </a:solidFill>
                <a:latin typeface="Times" panose="02020603050405020304" pitchFamily="18" charset="0"/>
              </a:rPr>
              <a:t>Decision &amp; reporting</a:t>
            </a:r>
          </a:p>
        </p:txBody>
      </p:sp>
      <p:sp>
        <p:nvSpPr>
          <p:cNvPr id="21" name="TextBox 20"/>
          <p:cNvSpPr txBox="1"/>
          <p:nvPr/>
        </p:nvSpPr>
        <p:spPr>
          <a:xfrm>
            <a:off x="6419088" y="4114799"/>
            <a:ext cx="4965192" cy="646331"/>
          </a:xfrm>
          <a:prstGeom prst="rect">
            <a:avLst/>
          </a:prstGeom>
          <a:noFill/>
        </p:spPr>
        <p:txBody>
          <a:bodyPr wrap="square">
            <a:spAutoFit/>
          </a:bodyPr>
          <a:lstStyle/>
          <a:p>
            <a:r>
              <a:rPr dirty="0">
                <a:solidFill>
                  <a:srgbClr val="23282D"/>
                </a:solidFill>
                <a:latin typeface="Times" panose="02020603050405020304" pitchFamily="18" charset="0"/>
              </a:rPr>
              <a:t>Credit scoring, dashboards, reports, exports, member summaries, settings</a:t>
            </a:r>
          </a:p>
        </p:txBody>
      </p:sp>
      <p:sp>
        <p:nvSpPr>
          <p:cNvPr id="22" name="TextBox 21"/>
          <p:cNvSpPr txBox="1"/>
          <p:nvPr/>
        </p:nvSpPr>
        <p:spPr>
          <a:xfrm>
            <a:off x="32505" y="5623560"/>
            <a:ext cx="12187952" cy="338554"/>
          </a:xfrm>
          <a:prstGeom prst="rect">
            <a:avLst/>
          </a:prstGeom>
          <a:noFill/>
        </p:spPr>
        <p:txBody>
          <a:bodyPr wrap="none">
            <a:spAutoFit/>
          </a:bodyPr>
          <a:lstStyle/>
          <a:p>
            <a:pPr algn="ctr"/>
            <a:r>
              <a:rPr sz="1600" dirty="0">
                <a:solidFill>
                  <a:srgbClr val="69737D"/>
                </a:solidFill>
                <a:latin typeface="Times" panose="02020603050405020304" pitchFamily="18" charset="0"/>
              </a:rPr>
              <a:t>Prototype exclusions: direct M-Pesa/payment gateway, direct SMS/email providers, full web admin portal, national-scale production deployment.</a:t>
            </a:r>
          </a:p>
        </p:txBody>
      </p:sp>
      <p:sp>
        <p:nvSpPr>
          <p:cNvPr id="23" name="TextBox 22"/>
          <p:cNvSpPr txBox="1"/>
          <p:nvPr/>
        </p:nvSpPr>
        <p:spPr>
          <a:xfrm>
            <a:off x="8477714" y="6473952"/>
            <a:ext cx="2906566" cy="253916"/>
          </a:xfrm>
          <a:prstGeom prst="rect">
            <a:avLst/>
          </a:prstGeom>
          <a:noFill/>
        </p:spPr>
        <p:txBody>
          <a:bodyPr wrap="none">
            <a:spAutoFit/>
          </a:bodyPr>
          <a:lstStyle/>
          <a:p>
            <a:pPr algn="r"/>
            <a:r>
              <a:rPr sz="1050">
                <a:solidFill>
                  <a:srgbClr val="69737D"/>
                </a:solidFill>
                <a:latin typeface="Times" panose="02020603050405020304" pitchFamily="18" charset="0"/>
              </a:rPr>
              <a:t>ChamaPlus | Mount Kenya University | 2025/2026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4" name="TextBox 3"/>
          <p:cNvSpPr txBox="1"/>
          <p:nvPr/>
        </p:nvSpPr>
        <p:spPr>
          <a:xfrm>
            <a:off x="594360" y="320040"/>
            <a:ext cx="6891630" cy="646331"/>
          </a:xfrm>
          <a:prstGeom prst="rect">
            <a:avLst/>
          </a:prstGeom>
          <a:noFill/>
        </p:spPr>
        <p:txBody>
          <a:bodyPr wrap="none">
            <a:spAutoFit/>
          </a:bodyPr>
          <a:lstStyle/>
          <a:p>
            <a:r>
              <a:rPr sz="3600" b="1">
                <a:solidFill>
                  <a:srgbClr val="192D4B"/>
                </a:solidFill>
                <a:latin typeface="Times" panose="02020603050405020304" pitchFamily="18" charset="0"/>
              </a:rPr>
              <a:t>9. Testing and Current Validation</a:t>
            </a:r>
          </a:p>
        </p:txBody>
      </p:sp>
      <p:sp>
        <p:nvSpPr>
          <p:cNvPr id="5" name="TextBox 4"/>
          <p:cNvSpPr txBox="1"/>
          <p:nvPr/>
        </p:nvSpPr>
        <p:spPr>
          <a:xfrm>
            <a:off x="612648" y="841248"/>
            <a:ext cx="4076757" cy="369332"/>
          </a:xfrm>
          <a:prstGeom prst="rect">
            <a:avLst/>
          </a:prstGeom>
          <a:noFill/>
        </p:spPr>
        <p:txBody>
          <a:bodyPr wrap="none">
            <a:spAutoFit/>
          </a:bodyPr>
          <a:lstStyle/>
          <a:p>
            <a:r>
              <a:rPr>
                <a:solidFill>
                  <a:srgbClr val="69737D"/>
                </a:solidFill>
                <a:latin typeface="Times" panose="02020603050405020304" pitchFamily="18" charset="0"/>
              </a:rPr>
              <a:t>Evidence that the prototype was exercised</a:t>
            </a:r>
          </a:p>
        </p:txBody>
      </p:sp>
      <p:sp>
        <p:nvSpPr>
          <p:cNvPr id="6" name="Rounded Rectangle 5"/>
          <p:cNvSpPr/>
          <p:nvPr/>
        </p:nvSpPr>
        <p:spPr>
          <a:xfrm>
            <a:off x="822960" y="1417320"/>
            <a:ext cx="3154680" cy="1508760"/>
          </a:xfrm>
          <a:prstGeom prst="roundRect">
            <a:avLst/>
          </a:prstGeom>
          <a:solidFill>
            <a:srgbClr val="F2F5F8"/>
          </a:solidFill>
          <a:ln>
            <a:solidFill>
              <a:srgbClr val="D7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7" name="TextBox 6"/>
          <p:cNvSpPr txBox="1"/>
          <p:nvPr/>
        </p:nvSpPr>
        <p:spPr>
          <a:xfrm>
            <a:off x="1923246" y="1627632"/>
            <a:ext cx="954108" cy="707886"/>
          </a:xfrm>
          <a:prstGeom prst="rect">
            <a:avLst/>
          </a:prstGeom>
          <a:noFill/>
        </p:spPr>
        <p:txBody>
          <a:bodyPr wrap="none">
            <a:spAutoFit/>
          </a:bodyPr>
          <a:lstStyle/>
          <a:p>
            <a:pPr algn="ctr"/>
            <a:r>
              <a:rPr sz="4000" b="1">
                <a:solidFill>
                  <a:srgbClr val="192D4B"/>
                </a:solidFill>
                <a:latin typeface="Times" panose="02020603050405020304" pitchFamily="18" charset="0"/>
              </a:rPr>
              <a:t>124</a:t>
            </a:r>
          </a:p>
        </p:txBody>
      </p:sp>
      <p:sp>
        <p:nvSpPr>
          <p:cNvPr id="8" name="TextBox 7"/>
          <p:cNvSpPr txBox="1"/>
          <p:nvPr/>
        </p:nvSpPr>
        <p:spPr>
          <a:xfrm>
            <a:off x="1160217" y="2212848"/>
            <a:ext cx="2480167" cy="369332"/>
          </a:xfrm>
          <a:prstGeom prst="rect">
            <a:avLst/>
          </a:prstGeom>
          <a:noFill/>
        </p:spPr>
        <p:txBody>
          <a:bodyPr wrap="none">
            <a:spAutoFit/>
          </a:bodyPr>
          <a:lstStyle/>
          <a:p>
            <a:pPr algn="ctr"/>
            <a:r>
              <a:rPr>
                <a:solidFill>
                  <a:srgbClr val="23282D"/>
                </a:solidFill>
                <a:latin typeface="Times" panose="02020603050405020304" pitchFamily="18" charset="0"/>
              </a:rPr>
              <a:t>Backend automated tests</a:t>
            </a:r>
          </a:p>
        </p:txBody>
      </p:sp>
      <p:sp>
        <p:nvSpPr>
          <p:cNvPr id="9" name="Rounded Rectangle 8"/>
          <p:cNvSpPr/>
          <p:nvPr/>
        </p:nvSpPr>
        <p:spPr>
          <a:xfrm>
            <a:off x="4572000" y="1417320"/>
            <a:ext cx="3154680" cy="1508760"/>
          </a:xfrm>
          <a:prstGeom prst="roundRect">
            <a:avLst/>
          </a:prstGeom>
          <a:solidFill>
            <a:srgbClr val="F2F5F8"/>
          </a:solidFill>
          <a:ln>
            <a:solidFill>
              <a:srgbClr val="D7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0" name="TextBox 9"/>
          <p:cNvSpPr txBox="1"/>
          <p:nvPr/>
        </p:nvSpPr>
        <p:spPr>
          <a:xfrm>
            <a:off x="5672286" y="1627632"/>
            <a:ext cx="954108" cy="707886"/>
          </a:xfrm>
          <a:prstGeom prst="rect">
            <a:avLst/>
          </a:prstGeom>
          <a:noFill/>
        </p:spPr>
        <p:txBody>
          <a:bodyPr wrap="none">
            <a:spAutoFit/>
          </a:bodyPr>
          <a:lstStyle/>
          <a:p>
            <a:pPr algn="ctr"/>
            <a:r>
              <a:rPr sz="4000" b="1">
                <a:solidFill>
                  <a:srgbClr val="192D4B"/>
                </a:solidFill>
                <a:latin typeface="Times" panose="02020603050405020304" pitchFamily="18" charset="0"/>
              </a:rPr>
              <a:t>244</a:t>
            </a:r>
          </a:p>
        </p:txBody>
      </p:sp>
      <p:sp>
        <p:nvSpPr>
          <p:cNvPr id="11" name="TextBox 10"/>
          <p:cNvSpPr txBox="1"/>
          <p:nvPr/>
        </p:nvSpPr>
        <p:spPr>
          <a:xfrm>
            <a:off x="4979790" y="2212848"/>
            <a:ext cx="2339102" cy="369332"/>
          </a:xfrm>
          <a:prstGeom prst="rect">
            <a:avLst/>
          </a:prstGeom>
          <a:noFill/>
        </p:spPr>
        <p:txBody>
          <a:bodyPr wrap="none">
            <a:spAutoFit/>
          </a:bodyPr>
          <a:lstStyle/>
          <a:p>
            <a:pPr algn="ctr"/>
            <a:r>
              <a:rPr>
                <a:solidFill>
                  <a:srgbClr val="23282D"/>
                </a:solidFill>
                <a:latin typeface="Times" panose="02020603050405020304" pitchFamily="18" charset="0"/>
              </a:rPr>
              <a:t>Mobile automated tests</a:t>
            </a:r>
          </a:p>
        </p:txBody>
      </p:sp>
      <p:sp>
        <p:nvSpPr>
          <p:cNvPr id="12" name="Rounded Rectangle 11"/>
          <p:cNvSpPr/>
          <p:nvPr/>
        </p:nvSpPr>
        <p:spPr>
          <a:xfrm>
            <a:off x="8321040" y="1417320"/>
            <a:ext cx="3154680" cy="1508760"/>
          </a:xfrm>
          <a:prstGeom prst="roundRect">
            <a:avLst/>
          </a:prstGeom>
          <a:solidFill>
            <a:srgbClr val="F2F5F8"/>
          </a:solidFill>
          <a:ln>
            <a:solidFill>
              <a:srgbClr val="D7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3" name="TextBox 12"/>
          <p:cNvSpPr txBox="1"/>
          <p:nvPr/>
        </p:nvSpPr>
        <p:spPr>
          <a:xfrm>
            <a:off x="9549566" y="1627632"/>
            <a:ext cx="697627" cy="707886"/>
          </a:xfrm>
          <a:prstGeom prst="rect">
            <a:avLst/>
          </a:prstGeom>
          <a:noFill/>
        </p:spPr>
        <p:txBody>
          <a:bodyPr wrap="none">
            <a:spAutoFit/>
          </a:bodyPr>
          <a:lstStyle/>
          <a:p>
            <a:pPr algn="ctr"/>
            <a:r>
              <a:rPr sz="4000" b="1">
                <a:solidFill>
                  <a:srgbClr val="192D4B"/>
                </a:solidFill>
                <a:latin typeface="Times" panose="02020603050405020304" pitchFamily="18" charset="0"/>
              </a:rPr>
              <a:t>15</a:t>
            </a:r>
          </a:p>
        </p:txBody>
      </p:sp>
      <p:sp>
        <p:nvSpPr>
          <p:cNvPr id="14" name="TextBox 13"/>
          <p:cNvSpPr txBox="1"/>
          <p:nvPr/>
        </p:nvSpPr>
        <p:spPr>
          <a:xfrm>
            <a:off x="8161366" y="2212848"/>
            <a:ext cx="3474028" cy="369332"/>
          </a:xfrm>
          <a:prstGeom prst="rect">
            <a:avLst/>
          </a:prstGeom>
          <a:noFill/>
        </p:spPr>
        <p:txBody>
          <a:bodyPr wrap="none">
            <a:spAutoFit/>
          </a:bodyPr>
          <a:lstStyle/>
          <a:p>
            <a:pPr algn="ctr"/>
            <a:r>
              <a:rPr>
                <a:solidFill>
                  <a:srgbClr val="23282D"/>
                </a:solidFill>
                <a:latin typeface="Times" panose="02020603050405020304" pitchFamily="18" charset="0"/>
              </a:rPr>
              <a:t>Representative functional test cases</a:t>
            </a:r>
          </a:p>
        </p:txBody>
      </p:sp>
      <p:sp>
        <p:nvSpPr>
          <p:cNvPr id="15" name="Rounded Rectangle 14"/>
          <p:cNvSpPr/>
          <p:nvPr/>
        </p:nvSpPr>
        <p:spPr>
          <a:xfrm>
            <a:off x="914400" y="3429000"/>
            <a:ext cx="10287000" cy="15087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6" name="Rectangle 15"/>
          <p:cNvSpPr/>
          <p:nvPr/>
        </p:nvSpPr>
        <p:spPr>
          <a:xfrm>
            <a:off x="914400" y="3429000"/>
            <a:ext cx="73152" cy="1508760"/>
          </a:xfrm>
          <a:prstGeom prst="rect">
            <a:avLst/>
          </a:prstGeom>
          <a:solidFill>
            <a:srgbClr val="AF7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7" name="TextBox 16"/>
          <p:cNvSpPr txBox="1"/>
          <p:nvPr/>
        </p:nvSpPr>
        <p:spPr>
          <a:xfrm>
            <a:off x="1115568" y="3593592"/>
            <a:ext cx="3021981" cy="461665"/>
          </a:xfrm>
          <a:prstGeom prst="rect">
            <a:avLst/>
          </a:prstGeom>
          <a:noFill/>
        </p:spPr>
        <p:txBody>
          <a:bodyPr wrap="none">
            <a:spAutoFit/>
          </a:bodyPr>
          <a:lstStyle/>
          <a:p>
            <a:r>
              <a:rPr sz="2400" b="1">
                <a:solidFill>
                  <a:srgbClr val="192D4B"/>
                </a:solidFill>
                <a:latin typeface="Times" panose="02020603050405020304" pitchFamily="18" charset="0"/>
              </a:rPr>
              <a:t>Final test observation</a:t>
            </a:r>
          </a:p>
        </p:txBody>
      </p:sp>
      <p:sp>
        <p:nvSpPr>
          <p:cNvPr id="18" name="TextBox 17"/>
          <p:cNvSpPr txBox="1"/>
          <p:nvPr/>
        </p:nvSpPr>
        <p:spPr>
          <a:xfrm>
            <a:off x="1115569" y="4069080"/>
            <a:ext cx="10085832" cy="646331"/>
          </a:xfrm>
          <a:prstGeom prst="rect">
            <a:avLst/>
          </a:prstGeom>
          <a:noFill/>
        </p:spPr>
        <p:txBody>
          <a:bodyPr wrap="square">
            <a:spAutoFit/>
          </a:bodyPr>
          <a:lstStyle/>
          <a:p>
            <a:r>
              <a:rPr dirty="0">
                <a:solidFill>
                  <a:srgbClr val="23282D"/>
                </a:solidFill>
                <a:latin typeface="Times" panose="02020603050405020304" pitchFamily="18" charset="0"/>
              </a:rPr>
              <a:t>243 of 244 mobile tests passed. One non-core report-export formatting test remained failing at final execution. Core workflows represented in the report's test cases passed.</a:t>
            </a:r>
          </a:p>
        </p:txBody>
      </p:sp>
      <p:sp>
        <p:nvSpPr>
          <p:cNvPr id="19" name="TextBox 18"/>
          <p:cNvSpPr txBox="1"/>
          <p:nvPr/>
        </p:nvSpPr>
        <p:spPr>
          <a:xfrm>
            <a:off x="8477714" y="6473952"/>
            <a:ext cx="2906566" cy="253916"/>
          </a:xfrm>
          <a:prstGeom prst="rect">
            <a:avLst/>
          </a:prstGeom>
          <a:noFill/>
        </p:spPr>
        <p:txBody>
          <a:bodyPr wrap="none">
            <a:spAutoFit/>
          </a:bodyPr>
          <a:lstStyle/>
          <a:p>
            <a:pPr algn="r"/>
            <a:r>
              <a:rPr sz="1050">
                <a:solidFill>
                  <a:srgbClr val="69737D"/>
                </a:solidFill>
                <a:latin typeface="Times" panose="02020603050405020304" pitchFamily="18" charset="0"/>
              </a:rPr>
              <a:t>ChamaPlus | Mount Kenya University | 2025/2026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3" name="Rectangle 2"/>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4" name="TextBox 3"/>
          <p:cNvSpPr txBox="1"/>
          <p:nvPr/>
        </p:nvSpPr>
        <p:spPr>
          <a:xfrm>
            <a:off x="594360" y="320040"/>
            <a:ext cx="5019323" cy="646331"/>
          </a:xfrm>
          <a:prstGeom prst="rect">
            <a:avLst/>
          </a:prstGeom>
          <a:noFill/>
        </p:spPr>
        <p:txBody>
          <a:bodyPr wrap="none">
            <a:spAutoFit/>
          </a:bodyPr>
          <a:lstStyle/>
          <a:p>
            <a:r>
              <a:rPr sz="3600" b="1">
                <a:solidFill>
                  <a:srgbClr val="192D4B"/>
                </a:solidFill>
                <a:latin typeface="Times" panose="02020603050405020304" pitchFamily="18" charset="0"/>
              </a:rPr>
              <a:t>10. Project Contribution</a:t>
            </a:r>
          </a:p>
        </p:txBody>
      </p:sp>
      <p:sp>
        <p:nvSpPr>
          <p:cNvPr id="5" name="TextBox 4"/>
          <p:cNvSpPr txBox="1"/>
          <p:nvPr/>
        </p:nvSpPr>
        <p:spPr>
          <a:xfrm>
            <a:off x="612648" y="841248"/>
            <a:ext cx="2877711" cy="369332"/>
          </a:xfrm>
          <a:prstGeom prst="rect">
            <a:avLst/>
          </a:prstGeom>
          <a:noFill/>
        </p:spPr>
        <p:txBody>
          <a:bodyPr wrap="none">
            <a:spAutoFit/>
          </a:bodyPr>
          <a:lstStyle/>
          <a:p>
            <a:r>
              <a:rPr>
                <a:solidFill>
                  <a:srgbClr val="69737D"/>
                </a:solidFill>
                <a:latin typeface="Times" panose="02020603050405020304" pitchFamily="18" charset="0"/>
              </a:rPr>
              <a:t>What ChamaPlus contributes</a:t>
            </a:r>
          </a:p>
        </p:txBody>
      </p:sp>
      <p:sp>
        <p:nvSpPr>
          <p:cNvPr id="6" name="Rounded Rectangle 5"/>
          <p:cNvSpPr/>
          <p:nvPr/>
        </p:nvSpPr>
        <p:spPr>
          <a:xfrm>
            <a:off x="685800" y="1371600"/>
            <a:ext cx="347472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7" name="Rectangle 6"/>
          <p:cNvSpPr/>
          <p:nvPr/>
        </p:nvSpPr>
        <p:spPr>
          <a:xfrm>
            <a:off x="685800" y="1371600"/>
            <a:ext cx="73152" cy="3566160"/>
          </a:xfrm>
          <a:prstGeom prst="rect">
            <a:avLst/>
          </a:prstGeom>
          <a:solidFill>
            <a:srgbClr val="2D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8" name="TextBox 7"/>
          <p:cNvSpPr txBox="1"/>
          <p:nvPr/>
        </p:nvSpPr>
        <p:spPr>
          <a:xfrm>
            <a:off x="886968" y="1536192"/>
            <a:ext cx="3302507" cy="461665"/>
          </a:xfrm>
          <a:prstGeom prst="rect">
            <a:avLst/>
          </a:prstGeom>
          <a:noFill/>
        </p:spPr>
        <p:txBody>
          <a:bodyPr wrap="none">
            <a:spAutoFit/>
          </a:bodyPr>
          <a:lstStyle/>
          <a:p>
            <a:r>
              <a:rPr sz="2400" b="1">
                <a:solidFill>
                  <a:srgbClr val="192D4B"/>
                </a:solidFill>
                <a:latin typeface="Times" panose="02020603050405020304" pitchFamily="18" charset="0"/>
              </a:rPr>
              <a:t>Operational integration</a:t>
            </a:r>
          </a:p>
        </p:txBody>
      </p:sp>
      <p:sp>
        <p:nvSpPr>
          <p:cNvPr id="9" name="TextBox 8"/>
          <p:cNvSpPr txBox="1"/>
          <p:nvPr/>
        </p:nvSpPr>
        <p:spPr>
          <a:xfrm>
            <a:off x="886968" y="2011679"/>
            <a:ext cx="3273552" cy="1200329"/>
          </a:xfrm>
          <a:prstGeom prst="rect">
            <a:avLst/>
          </a:prstGeom>
          <a:noFill/>
        </p:spPr>
        <p:txBody>
          <a:bodyPr wrap="square">
            <a:spAutoFit/>
          </a:bodyPr>
          <a:lstStyle/>
          <a:p>
            <a:r>
              <a:rPr dirty="0">
                <a:solidFill>
                  <a:srgbClr val="23282D"/>
                </a:solidFill>
                <a:latin typeface="Times" panose="02020603050405020304" pitchFamily="18" charset="0"/>
              </a:rPr>
              <a:t>Connects membership, savings, lending, governance and reporting in one mobile environment.</a:t>
            </a:r>
          </a:p>
        </p:txBody>
      </p:sp>
      <p:sp>
        <p:nvSpPr>
          <p:cNvPr id="10" name="Rounded Rectangle 9"/>
          <p:cNvSpPr/>
          <p:nvPr/>
        </p:nvSpPr>
        <p:spPr>
          <a:xfrm>
            <a:off x="4370832" y="1371600"/>
            <a:ext cx="347472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1" name="Rectangle 10"/>
          <p:cNvSpPr/>
          <p:nvPr/>
        </p:nvSpPr>
        <p:spPr>
          <a:xfrm>
            <a:off x="4370832" y="1371600"/>
            <a:ext cx="73152" cy="3566160"/>
          </a:xfrm>
          <a:prstGeom prst="rect">
            <a:avLst/>
          </a:prstGeom>
          <a:solidFill>
            <a:srgbClr val="287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2" name="TextBox 11"/>
          <p:cNvSpPr txBox="1"/>
          <p:nvPr/>
        </p:nvSpPr>
        <p:spPr>
          <a:xfrm>
            <a:off x="4572000" y="1536192"/>
            <a:ext cx="2400016" cy="461665"/>
          </a:xfrm>
          <a:prstGeom prst="rect">
            <a:avLst/>
          </a:prstGeom>
          <a:noFill/>
        </p:spPr>
        <p:txBody>
          <a:bodyPr wrap="none">
            <a:spAutoFit/>
          </a:bodyPr>
          <a:lstStyle/>
          <a:p>
            <a:r>
              <a:rPr sz="2400" b="1">
                <a:solidFill>
                  <a:srgbClr val="192D4B"/>
                </a:solidFill>
                <a:latin typeface="Times" panose="02020603050405020304" pitchFamily="18" charset="0"/>
              </a:rPr>
              <a:t>Decision support</a:t>
            </a:r>
          </a:p>
        </p:txBody>
      </p:sp>
      <p:sp>
        <p:nvSpPr>
          <p:cNvPr id="13" name="TextBox 12"/>
          <p:cNvSpPr txBox="1"/>
          <p:nvPr/>
        </p:nvSpPr>
        <p:spPr>
          <a:xfrm>
            <a:off x="4572000" y="2011680"/>
            <a:ext cx="3180522" cy="1200329"/>
          </a:xfrm>
          <a:prstGeom prst="rect">
            <a:avLst/>
          </a:prstGeom>
          <a:noFill/>
        </p:spPr>
        <p:txBody>
          <a:bodyPr wrap="square">
            <a:spAutoFit/>
          </a:bodyPr>
          <a:lstStyle/>
          <a:p>
            <a:r>
              <a:rPr dirty="0">
                <a:solidFill>
                  <a:srgbClr val="23282D"/>
                </a:solidFill>
                <a:latin typeface="Times" panose="02020603050405020304" pitchFamily="18" charset="0"/>
              </a:rPr>
              <a:t>Uses recorded contribution, repayment, attendance and membership information to produce an advisory credit view.</a:t>
            </a:r>
          </a:p>
        </p:txBody>
      </p:sp>
      <p:sp>
        <p:nvSpPr>
          <p:cNvPr id="14" name="Rounded Rectangle 13"/>
          <p:cNvSpPr/>
          <p:nvPr/>
        </p:nvSpPr>
        <p:spPr>
          <a:xfrm>
            <a:off x="8055864" y="1371600"/>
            <a:ext cx="3474720" cy="3566160"/>
          </a:xfrm>
          <a:prstGeom prst="roundRect">
            <a:avLst/>
          </a:prstGeom>
          <a:solidFill>
            <a:srgbClr val="F2F5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5" name="Rectangle 14"/>
          <p:cNvSpPr/>
          <p:nvPr/>
        </p:nvSpPr>
        <p:spPr>
          <a:xfrm>
            <a:off x="8055864" y="1371600"/>
            <a:ext cx="73152" cy="3566160"/>
          </a:xfrm>
          <a:prstGeom prst="rect">
            <a:avLst/>
          </a:prstGeom>
          <a:solidFill>
            <a:srgbClr val="37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panose="02020603050405020304" pitchFamily="18" charset="0"/>
            </a:endParaRPr>
          </a:p>
        </p:txBody>
      </p:sp>
      <p:sp>
        <p:nvSpPr>
          <p:cNvPr id="16" name="TextBox 15"/>
          <p:cNvSpPr txBox="1"/>
          <p:nvPr/>
        </p:nvSpPr>
        <p:spPr>
          <a:xfrm>
            <a:off x="8257032" y="1536192"/>
            <a:ext cx="2483372" cy="461665"/>
          </a:xfrm>
          <a:prstGeom prst="rect">
            <a:avLst/>
          </a:prstGeom>
          <a:noFill/>
        </p:spPr>
        <p:txBody>
          <a:bodyPr wrap="none">
            <a:spAutoFit/>
          </a:bodyPr>
          <a:lstStyle/>
          <a:p>
            <a:r>
              <a:rPr sz="2400" b="1">
                <a:solidFill>
                  <a:srgbClr val="192D4B"/>
                </a:solidFill>
                <a:latin typeface="Times" panose="02020603050405020304" pitchFamily="18" charset="0"/>
              </a:rPr>
              <a:t>Controlled access</a:t>
            </a:r>
          </a:p>
        </p:txBody>
      </p:sp>
      <p:sp>
        <p:nvSpPr>
          <p:cNvPr id="17" name="TextBox 16"/>
          <p:cNvSpPr txBox="1"/>
          <p:nvPr/>
        </p:nvSpPr>
        <p:spPr>
          <a:xfrm>
            <a:off x="8257033" y="2011679"/>
            <a:ext cx="3127248" cy="1200329"/>
          </a:xfrm>
          <a:prstGeom prst="rect">
            <a:avLst/>
          </a:prstGeom>
          <a:noFill/>
        </p:spPr>
        <p:txBody>
          <a:bodyPr wrap="square">
            <a:spAutoFit/>
          </a:bodyPr>
          <a:lstStyle/>
          <a:p>
            <a:r>
              <a:rPr dirty="0">
                <a:solidFill>
                  <a:srgbClr val="23282D"/>
                </a:solidFill>
                <a:latin typeface="Times" panose="02020603050405020304" pitchFamily="18" charset="0"/>
              </a:rPr>
              <a:t>Uses authentication and role-based permissions so financial and administrative functions are restricted to appropriate users.</a:t>
            </a:r>
          </a:p>
        </p:txBody>
      </p:sp>
      <p:sp>
        <p:nvSpPr>
          <p:cNvPr id="18" name="TextBox 17"/>
          <p:cNvSpPr txBox="1"/>
          <p:nvPr/>
        </p:nvSpPr>
        <p:spPr>
          <a:xfrm>
            <a:off x="8477714" y="6473952"/>
            <a:ext cx="2906566" cy="253916"/>
          </a:xfrm>
          <a:prstGeom prst="rect">
            <a:avLst/>
          </a:prstGeom>
          <a:noFill/>
        </p:spPr>
        <p:txBody>
          <a:bodyPr wrap="none">
            <a:spAutoFit/>
          </a:bodyPr>
          <a:lstStyle/>
          <a:p>
            <a:pPr algn="r"/>
            <a:r>
              <a:rPr sz="1050">
                <a:solidFill>
                  <a:srgbClr val="69737D"/>
                </a:solidFill>
                <a:latin typeface="Times" panose="02020603050405020304" pitchFamily="18" charset="0"/>
              </a:rPr>
              <a:t>ChamaPlus | Mount Kenya University | 2025/2026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panose="02020603050405020304" pitchFamily="18" charset="0"/>
            </a:endParaRPr>
          </a:p>
        </p:txBody>
      </p:sp>
      <p:sp>
        <p:nvSpPr>
          <p:cNvPr id="3" name="TextBox 2"/>
          <p:cNvSpPr txBox="1"/>
          <p:nvPr/>
        </p:nvSpPr>
        <p:spPr>
          <a:xfrm>
            <a:off x="822960" y="1371600"/>
            <a:ext cx="10515600" cy="707886"/>
          </a:xfrm>
          <a:prstGeom prst="rect">
            <a:avLst/>
          </a:prstGeom>
          <a:noFill/>
        </p:spPr>
        <p:txBody>
          <a:bodyPr wrap="square">
            <a:spAutoFit/>
          </a:bodyPr>
          <a:lstStyle/>
          <a:p>
            <a:pPr algn="l">
              <a:defRPr sz="3400" b="1">
                <a:solidFill>
                  <a:srgbClr val="FFFFFF"/>
                </a:solidFill>
              </a:defRPr>
            </a:pPr>
            <a:r>
              <a:rPr sz="4000">
                <a:latin typeface="Times" panose="02020603050405020304" pitchFamily="18" charset="0"/>
              </a:rPr>
              <a:t>From the problem and design…</a:t>
            </a:r>
          </a:p>
        </p:txBody>
      </p:sp>
      <p:sp>
        <p:nvSpPr>
          <p:cNvPr id="4" name="TextBox 3"/>
          <p:cNvSpPr txBox="1"/>
          <p:nvPr/>
        </p:nvSpPr>
        <p:spPr>
          <a:xfrm>
            <a:off x="822960" y="2148840"/>
            <a:ext cx="10515600" cy="707886"/>
          </a:xfrm>
          <a:prstGeom prst="rect">
            <a:avLst/>
          </a:prstGeom>
          <a:noFill/>
        </p:spPr>
        <p:txBody>
          <a:bodyPr wrap="square">
            <a:spAutoFit/>
          </a:bodyPr>
          <a:lstStyle/>
          <a:p>
            <a:pPr algn="l">
              <a:defRPr sz="3400" b="1">
                <a:solidFill>
                  <a:srgbClr val="FFFFFF"/>
                </a:solidFill>
              </a:defRPr>
            </a:pPr>
            <a:r>
              <a:rPr sz="4000">
                <a:latin typeface="Times" panose="02020603050405020304" pitchFamily="18" charset="0"/>
              </a:rPr>
              <a:t>…to the implemented product.</a:t>
            </a:r>
          </a:p>
        </p:txBody>
      </p:sp>
      <p:sp>
        <p:nvSpPr>
          <p:cNvPr id="5" name="TextBox 4"/>
          <p:cNvSpPr txBox="1"/>
          <p:nvPr/>
        </p:nvSpPr>
        <p:spPr>
          <a:xfrm>
            <a:off x="822960" y="3154680"/>
            <a:ext cx="10515600" cy="1200329"/>
          </a:xfrm>
          <a:prstGeom prst="rect">
            <a:avLst/>
          </a:prstGeom>
          <a:noFill/>
        </p:spPr>
        <p:txBody>
          <a:bodyPr wrap="square">
            <a:spAutoFit/>
          </a:bodyPr>
          <a:lstStyle/>
          <a:p>
            <a:pPr algn="l">
              <a:defRPr sz="1800" b="0">
                <a:solidFill>
                  <a:srgbClr val="D0E8FF"/>
                </a:solidFill>
              </a:defRPr>
            </a:pPr>
            <a:r>
              <a:rPr sz="2400">
                <a:latin typeface="Times" panose="02020603050405020304" pitchFamily="18" charset="0"/>
              </a:rPr>
              <a:t>Demo order:</a:t>
            </a:r>
            <a:br>
              <a:rPr sz="2400">
                <a:latin typeface="Times" panose="02020603050405020304" pitchFamily="18" charset="0"/>
              </a:rPr>
            </a:br>
            <a:r>
              <a:rPr sz="2400">
                <a:latin typeface="Times" panose="02020603050405020304" pitchFamily="18" charset="0"/>
              </a:rPr>
              <a:t>Login → Membership → Contributions → Loans → Credit Score → Governance → Reports</a:t>
            </a:r>
          </a:p>
        </p:txBody>
      </p:sp>
      <p:sp>
        <p:nvSpPr>
          <p:cNvPr id="6" name="TextBox 5"/>
          <p:cNvSpPr txBox="1"/>
          <p:nvPr/>
        </p:nvSpPr>
        <p:spPr>
          <a:xfrm>
            <a:off x="822960" y="4754880"/>
            <a:ext cx="10515600" cy="338554"/>
          </a:xfrm>
          <a:prstGeom prst="rect">
            <a:avLst/>
          </a:prstGeom>
          <a:noFill/>
        </p:spPr>
        <p:txBody>
          <a:bodyPr wrap="square">
            <a:spAutoFit/>
          </a:bodyPr>
          <a:lstStyle/>
          <a:p>
            <a:pPr algn="l">
              <a:defRPr sz="1600" b="0">
                <a:solidFill>
                  <a:srgbClr val="FFFFFF"/>
                </a:solidFill>
              </a:defRPr>
            </a:pPr>
            <a:r>
              <a:rPr>
                <a:latin typeface="Times" panose="02020603050405020304" pitchFamily="18" charset="0"/>
              </a:rPr>
              <a:t>I will now demonstrate how ChamaPlus translates these design decisions into actual user workflows.</a:t>
            </a:r>
          </a:p>
        </p:txBody>
      </p:sp>
      <p:sp>
        <p:nvSpPr>
          <p:cNvPr id="7" name="TextBox 6"/>
          <p:cNvSpPr txBox="1"/>
          <p:nvPr/>
        </p:nvSpPr>
        <p:spPr>
          <a:xfrm>
            <a:off x="822960" y="5989320"/>
            <a:ext cx="10515600" cy="307777"/>
          </a:xfrm>
          <a:prstGeom prst="rect">
            <a:avLst/>
          </a:prstGeom>
          <a:noFill/>
        </p:spPr>
        <p:txBody>
          <a:bodyPr wrap="square">
            <a:spAutoFit/>
          </a:bodyPr>
          <a:lstStyle/>
          <a:p>
            <a:pPr algn="l">
              <a:defRPr sz="1100" b="0">
                <a:solidFill>
                  <a:srgbClr val="666666"/>
                </a:solidFill>
              </a:defRPr>
            </a:pPr>
            <a:r>
              <a:rPr sz="1400">
                <a:latin typeface="Times" panose="02020603050405020304" pitchFamily="18" charset="0"/>
              </a:rPr>
              <a:t>ChamaPlus | Live product demonstration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2920" y="320040"/>
            <a:ext cx="73152" cy="502920"/>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292608"/>
            <a:ext cx="10515600" cy="411480"/>
          </a:xfrm>
          <a:prstGeom prst="rect">
            <a:avLst/>
          </a:prstGeom>
          <a:noFill/>
        </p:spPr>
        <p:txBody>
          <a:bodyPr wrap="square">
            <a:spAutoFit/>
          </a:bodyPr>
          <a:lstStyle/>
          <a:p>
            <a:pPr algn="l">
              <a:defRPr sz="2800" b="1">
                <a:solidFill>
                  <a:srgbClr val="192D4B"/>
                </a:solidFill>
              </a:defRPr>
            </a:pPr>
            <a:r>
              <a:t>Backup. Implementation Preview</a:t>
            </a:r>
          </a:p>
        </p:txBody>
      </p:sp>
      <p:sp>
        <p:nvSpPr>
          <p:cNvPr id="5" name="TextBox 4"/>
          <p:cNvSpPr txBox="1"/>
          <p:nvPr/>
        </p:nvSpPr>
        <p:spPr>
          <a:xfrm>
            <a:off x="685800" y="749808"/>
            <a:ext cx="10515600" cy="320040"/>
          </a:xfrm>
          <a:prstGeom prst="rect">
            <a:avLst/>
          </a:prstGeom>
          <a:noFill/>
        </p:spPr>
        <p:txBody>
          <a:bodyPr wrap="square">
            <a:spAutoFit/>
          </a:bodyPr>
          <a:lstStyle/>
          <a:p>
            <a:pPr algn="l">
              <a:defRPr sz="1500" b="0">
                <a:solidFill>
                  <a:srgbClr val="666666"/>
                </a:solidFill>
              </a:defRPr>
            </a:pPr>
            <a:r>
              <a:t>Optional — use only if live demo is unavailable</a:t>
            </a:r>
          </a:p>
        </p:txBody>
      </p:sp>
      <p:pic>
        <p:nvPicPr>
          <p:cNvPr id="6" name="Picture 5" descr="01_login.jpeg"/>
          <p:cNvPicPr>
            <a:picLocks noChangeAspect="1"/>
          </p:cNvPicPr>
          <p:nvPr/>
        </p:nvPicPr>
        <p:blipFill>
          <a:blip r:embed="rId3"/>
          <a:stretch>
            <a:fillRect/>
          </a:stretch>
        </p:blipFill>
        <p:spPr>
          <a:xfrm>
            <a:off x="2459115" y="1211484"/>
            <a:ext cx="2170600" cy="4823556"/>
          </a:xfrm>
          <a:prstGeom prst="rect">
            <a:avLst/>
          </a:prstGeom>
        </p:spPr>
      </p:pic>
      <p:pic>
        <p:nvPicPr>
          <p:cNvPr id="7" name="Picture 6" descr="10_dashboard.jpeg"/>
          <p:cNvPicPr>
            <a:picLocks noChangeAspect="1"/>
          </p:cNvPicPr>
          <p:nvPr/>
        </p:nvPicPr>
        <p:blipFill>
          <a:blip r:embed="rId4"/>
          <a:stretch>
            <a:fillRect/>
          </a:stretch>
        </p:blipFill>
        <p:spPr>
          <a:xfrm>
            <a:off x="7652951" y="974941"/>
            <a:ext cx="2265623" cy="5034717"/>
          </a:xfrm>
          <a:prstGeom prst="rect">
            <a:avLst/>
          </a:prstGeom>
        </p:spPr>
      </p:pic>
      <p:sp>
        <p:nvSpPr>
          <p:cNvPr id="8" name="TextBox 7"/>
          <p:cNvSpPr txBox="1"/>
          <p:nvPr/>
        </p:nvSpPr>
        <p:spPr>
          <a:xfrm>
            <a:off x="1417320" y="5989320"/>
            <a:ext cx="3840480" cy="274320"/>
          </a:xfrm>
          <a:prstGeom prst="rect">
            <a:avLst/>
          </a:prstGeom>
          <a:noFill/>
        </p:spPr>
        <p:txBody>
          <a:bodyPr wrap="square">
            <a:spAutoFit/>
          </a:bodyPr>
          <a:lstStyle/>
          <a:p>
            <a:pPr algn="ctr">
              <a:defRPr sz="1300" b="1">
                <a:solidFill>
                  <a:srgbClr val="192D4B"/>
                </a:solidFill>
              </a:defRPr>
            </a:pPr>
            <a:r>
              <a:t>Login Screen</a:t>
            </a:r>
          </a:p>
        </p:txBody>
      </p:sp>
      <p:sp>
        <p:nvSpPr>
          <p:cNvPr id="9" name="TextBox 8"/>
          <p:cNvSpPr txBox="1"/>
          <p:nvPr/>
        </p:nvSpPr>
        <p:spPr>
          <a:xfrm>
            <a:off x="6903720" y="5989320"/>
            <a:ext cx="3840480" cy="274320"/>
          </a:xfrm>
          <a:prstGeom prst="rect">
            <a:avLst/>
          </a:prstGeom>
          <a:noFill/>
        </p:spPr>
        <p:txBody>
          <a:bodyPr wrap="square">
            <a:spAutoFit/>
          </a:bodyPr>
          <a:lstStyle/>
          <a:p>
            <a:pPr algn="ctr">
              <a:defRPr sz="1300" b="1">
                <a:solidFill>
                  <a:srgbClr val="192D4B"/>
                </a:solidFill>
              </a:defRPr>
            </a:pPr>
            <a:r>
              <a:t>Dashboard</a:t>
            </a:r>
          </a:p>
        </p:txBody>
      </p:sp>
      <p:sp>
        <p:nvSpPr>
          <p:cNvPr id="10" name="TextBox 9"/>
          <p:cNvSpPr txBox="1"/>
          <p:nvPr/>
        </p:nvSpPr>
        <p:spPr>
          <a:xfrm>
            <a:off x="502920" y="6446520"/>
            <a:ext cx="11155680" cy="228600"/>
          </a:xfrm>
          <a:prstGeom prst="rect">
            <a:avLst/>
          </a:prstGeom>
          <a:noFill/>
        </p:spPr>
        <p:txBody>
          <a:bodyPr wrap="square">
            <a:spAutoFit/>
          </a:bodyPr>
          <a:lstStyle/>
          <a:p>
            <a:pPr algn="l">
              <a:defRPr sz="1000" b="0">
                <a:solidFill>
                  <a:srgbClr val="666666"/>
                </a:solidFill>
              </a:defRPr>
            </a:pPr>
            <a:r>
              <a:t>ChamaPlus | Mount Kenya University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2384</Words>
  <Application>Microsoft Office PowerPoint</Application>
  <PresentationFormat>Widescreen</PresentationFormat>
  <Paragraphs>287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code</cp:lastModifiedBy>
  <cp:revision>17</cp:revision>
  <dcterms:created xsi:type="dcterms:W3CDTF">2013-01-27T09:14:16Z</dcterms:created>
  <dcterms:modified xsi:type="dcterms:W3CDTF">2026-08-24T18:33:17Z</dcterms:modified>
  <cp:category/>
</cp:coreProperties>
</file>