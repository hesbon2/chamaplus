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 seconds</a:t>
            </a:r>
          </a:p>
          <a:p/>
          <a:p>
            <a:r>
              <a:t>WHAT TO SAY:</a:t>
            </a:r>
          </a:p>
          <a:p>
            <a:r>
              <a:t>Good morning/afternoon, Chairperson, panel members, my supervisor, and everyone present.</a:t>
            </a:r>
          </a:p>
          <a:p/>
          <a:p>
            <a:r>
              <a:t>My name is Edna Kemunto Bitange, registration number BBIT/2023/41222, from the School of Computing and Informatics, Department of Enterprise Computing, Mount Kenya University.</a:t>
            </a:r>
          </a:p>
          <a:p/>
          <a:p>
            <a:r>
              <a:t>Today I present my final-year project: ChamaPlus — a Credit-Aware Decision Support Platform for Informal Savings Groups in Kenya.</a:t>
            </a:r>
          </a:p>
          <a:p/>
          <a:p>
            <a:r>
              <a:t>ChamaPlus is a mobile platform that brings together membership, savings, lending, governance, reporting and credit-related decision support. The goal was not simply to replace a notebook with an app, but to create an integrated system that organizes chama activities and supports the people responsible for managing them.</a:t>
            </a:r>
          </a:p>
          <a:p/>
          <a:p>
            <a:r>
              <a:t>I will explain the problem, the proposed solution and its design, then demonstrate the actual system.</a:t>
            </a:r>
          </a:p>
          <a:p/>
          <a:p>
            <a:r>
              <a:t>TRANSITION: To understand ChamaPlus, I begin with the environment in which the problem occurs.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a:t>
            </a:r>
          </a:p>
          <a:p/>
          <a:p>
            <a:r>
              <a:t>WHAT TO SAY:</a:t>
            </a:r>
          </a:p>
          <a:p>
            <a:r>
              <a:t>Informal savings groups — chamas — are an important mechanism for collective saving, borrowing and financial cooperation in Kenya.</a:t>
            </a:r>
          </a:p>
          <a:p/>
          <a:p>
            <a:r>
              <a:t>As a group becomes more active, the information to manage grows: members, roles, contribution cycles, loans, repayments, meetings, attendance, decisions and reports.</a:t>
            </a:r>
          </a:p>
          <a:p/>
          <a:p>
            <a:r>
              <a:t>The challenge is fragmentation. Records may sit in notebooks, spreadsheets and messaging apps. That makes it hard to answer: Who contributed? What is the loan position? Who owes repayments? What is the chama's financial position?</a:t>
            </a:r>
          </a:p>
          <a:p/>
          <a:p>
            <a:r>
              <a:t>The opportunity is a single mobile environment where related activities are managed and connected — with human decision-making still at the centre.</a:t>
            </a:r>
          </a:p>
          <a:p/>
          <a:p>
            <a:r>
              <a:t>TRANSITION: From that context, what specific problem and gap does ChamaPlus address?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a:t>
            </a:r>
          </a:p>
          <a:p/>
          <a:p>
            <a:r>
              <a:t>WHAT TO SAY:</a:t>
            </a:r>
          </a:p>
          <a:p>
            <a:r>
              <a:t>The problem is broader than the absence of a mobile app.</a:t>
            </a:r>
          </a:p>
          <a:p/>
          <a:p>
            <a:r>
              <a:t>Membership and contribution records can be fragmented. Loan monitoring is difficult when records are separate. Reports are manual and slow. Committee processes have limited visibility. Role separation is weak. Lending decisions lack structured support information.</a:t>
            </a:r>
          </a:p>
          <a:p/>
          <a:p>
            <a:r>
              <a:t>I am not claiming no digital chama tools exist. The gap is an integrated mobile environment connecting membership, savings, lending, governance, credit support and reporting.</a:t>
            </a:r>
          </a:p>
          <a:p/>
          <a:p>
            <a:r>
              <a:t>ChamaPlus is therefore an integrated information and decision-support platform — not a single-purpose contribution tracker.</a:t>
            </a:r>
          </a:p>
          <a:p/>
          <a:p>
            <a:r>
              <a:t>TRANSITION: The project was guided by three objectives.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 seconds</a:t>
            </a:r>
          </a:p>
          <a:p/>
          <a:p>
            <a:r>
              <a:t>WHAT TO SAY:</a:t>
            </a:r>
          </a:p>
          <a:p>
            <a:r>
              <a:t>Objective 1: Investigate challenges in manual and semi-digital chama management — so features address real problems.</a:t>
            </a:r>
          </a:p>
          <a:p/>
          <a:p>
            <a:r>
              <a:t>Objective 2: Design and develop an integrated mobile platform for membership, contributions, loans, governance, reporting and credit-aware decision support — the main development scope.</a:t>
            </a:r>
          </a:p>
          <a:p/>
          <a:p>
            <a:r>
              <a:t>Objective 3: Test and evaluate functionality, reliability and usability — the project is not complete just because code exists; it must be validated.</a:t>
            </a:r>
          </a:p>
          <a:p/>
          <a:p>
            <a:r>
              <a:t>These objectives link the problem, solution and evaluation.</a:t>
            </a:r>
          </a:p>
          <a:p/>
          <a:p>
            <a:r>
              <a:t>TRANSITION: The solution is the ChamaPlus integrated platform.</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a:t>
            </a:r>
          </a:p>
          <a:p/>
          <a:p>
            <a:r>
              <a:t>WHAT TO SAY:</a:t>
            </a:r>
          </a:p>
          <a:p>
            <a:r>
              <a:t>ChamaPlus connects six functional areas: membership; savings (cycles and history); lending (products, applications, voting, repayments); governance (meetings, attendance, minutes); decision support (advisory credit view); and visibility (dashboards, notifications, reports).</a:t>
            </a:r>
          </a:p>
          <a:p/>
          <a:p>
            <a:r>
              <a:t>The value is in the connections. A member's contributions and later loan activity share the same identity. A loan involves application, committee review, disbursement and repayment — not one isolated transaction.</a:t>
            </a:r>
          </a:p>
          <a:p/>
          <a:p>
            <a:r>
              <a:t>That integration is what makes this more than unrelated CRUD screens.</a:t>
            </a:r>
          </a:p>
          <a:p/>
          <a:p>
            <a:r>
              <a:t>TRANSITION: One distinctive element is the credit-aware component.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 LIKELY PANEL QUESTION</a:t>
            </a:r>
          </a:p>
          <a:p/>
          <a:p>
            <a:r>
              <a:t>WHAT TO SAY:</a:t>
            </a:r>
          </a:p>
          <a:p>
            <a:r>
              <a:t>Credit-aware means the system uses recorded activity to produce an advisory score: contribution consistency 35%, repayment history 35%, attendance 15%, membership duration 15%.</a:t>
            </a:r>
          </a:p>
          <a:p/>
          <a:p>
            <a:r>
              <a:t>Critical principle: the score does NOT automatically approve or reject a loan.</a:t>
            </a:r>
          </a:p>
          <a:p/>
          <a:p>
            <a:r>
              <a:t>Flow: member activity → scoring model → advisory score → committee review → final decision.</a:t>
            </a:r>
          </a:p>
          <a:p/>
          <a:p>
            <a:r>
              <a:t>The score supports the committee; it does not replace human governance. A score only reflects data in the system.</a:t>
            </a:r>
          </a:p>
          <a:p/>
          <a:p>
            <a:r>
              <a:t>PANEL-READY LINE: "The system provides evidence for a decision; it does not make the decision on behalf of the chama."</a:t>
            </a:r>
          </a:p>
          <a:p/>
          <a:p>
            <a:r>
              <a:t>TRANSITION: This required a maintainable architecture.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a:t>
            </a:r>
          </a:p>
          <a:p/>
          <a:p>
            <a:r>
              <a:t>WHAT TO SAY:</a:t>
            </a:r>
          </a:p>
          <a:p>
            <a:r>
              <a:t>ChamaPlus uses client-server architecture.</a:t>
            </a:r>
          </a:p>
          <a:p/>
          <a:p>
            <a:r>
              <a:t>Presentation layer: Flutter mobile app (Dart, Riverpod, GoRouter, feature-based modules).</a:t>
            </a:r>
          </a:p>
          <a:p/>
          <a:p>
            <a:r>
              <a:t>Application layer: Django REST Framework — authentication, permissions, business rules, APIs.</a:t>
            </a:r>
          </a:p>
          <a:p/>
          <a:p>
            <a:r>
              <a:t>Data layer: MySQL — users, memberships, contributions, loans, governance, reports.</a:t>
            </a:r>
          </a:p>
          <a:p/>
          <a:p>
            <a:r>
              <a:t>Implemented backend: 12 Django apps, 17 domain tables, 78 business endpoints.</a:t>
            </a:r>
          </a:p>
          <a:p/>
          <a:p>
            <a:r>
              <a:t>The mobile app does not touch the database directly. Requests go through the API where auth and business rules apply — supporting security and maintainability.</a:t>
            </a:r>
          </a:p>
          <a:p/>
          <a:p>
            <a:r>
              <a:t>TRANSITION: How was the project developed?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a:t>
            </a:r>
          </a:p>
          <a:p/>
          <a:p>
            <a:r>
              <a:t>WHAT TO SAY:</a:t>
            </a:r>
          </a:p>
          <a:p>
            <a:r>
              <a:t>Two methodological levels — do not confuse them.</a:t>
            </a:r>
          </a:p>
          <a:p/>
          <a:p>
            <a:r>
              <a:t>Research: applied design-and-development research — identify problem, design solution, build artefact, evaluate prototype.</a:t>
            </a:r>
          </a:p>
          <a:p/>
          <a:p>
            <a:r>
              <a:t>Software development: Agile iterative and incremental — NOT formal Scrum (no sprints, Product Owner, daily stand-ups).</a:t>
            </a:r>
          </a:p>
          <a:p/>
          <a:p>
            <a:r>
              <a:t>Cycle: requirements → design → implement → test → refine → next increment.</a:t>
            </a:r>
          </a:p>
          <a:p/>
          <a:p>
            <a:r>
              <a:t>Authentication and membership came first; contributions and loans built on that foundation. Testing ran throughout, not only at the end.</a:t>
            </a:r>
          </a:p>
          <a:p/>
          <a:p>
            <a:r>
              <a:t>TRANSITION: Here is what was actually implemented.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a:t>
            </a:r>
          </a:p>
          <a:p/>
          <a:p>
            <a:r>
              <a:t>WHAT TO SAY:</a:t>
            </a:r>
          </a:p>
          <a:p>
            <a:r>
              <a:t>Implemented: authentication and onboarding; financial operations (contributions, loans, voting, repayments); governance and notifications; credit scoring, dashboards, reports and exports.</a:t>
            </a:r>
          </a:p>
          <a:p/>
          <a:p>
            <a:r>
              <a:t>Not in prototype: direct M-Pesa/payment gateway, direct SMS/email providers, full web admin portal, national production deployment.</a:t>
            </a:r>
          </a:p>
          <a:p/>
          <a:p>
            <a:r>
              <a:t>Academically, I separate implemented scope from future work. The demo shows the prototype — not every possible financial feature.</a:t>
            </a:r>
          </a:p>
          <a:p/>
          <a:p>
            <a:r>
              <a:t>TRANSITION: Was it tested?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 — BE TRANSPARENT</a:t>
            </a:r>
          </a:p>
          <a:p/>
          <a:p>
            <a:r>
              <a:t>WHAT TO SAY:</a:t>
            </a:r>
          </a:p>
          <a:p>
            <a:r>
              <a:t>Backend: 124 automated tests. Mobile: 244 automated tests. Plus 15 representative functional test cases.</a:t>
            </a:r>
          </a:p>
          <a:p/>
          <a:p>
            <a:r>
              <a:t>Final result: 243 of 244 mobile tests passed. One non-core report-export formatting test failed.</a:t>
            </a:r>
          </a:p>
          <a:p/>
          <a:p>
            <a:r>
              <a:t>Core workflows in the functional test cases passed. I report this honestly rather than claiming 100% success.</a:t>
            </a:r>
          </a:p>
          <a:p/>
          <a:p>
            <a:r>
              <a:t>IF ASKED "Why not fix the last test?": It was isolated to export formatting, not core financial, auth or membership workflows. Recorded transparently in the report.</a:t>
            </a:r>
          </a:p>
          <a:p/>
          <a:p>
            <a:r>
              <a:t>TRANSITION: Three main contributions.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 seconds</a:t>
            </a:r>
          </a:p>
          <a:p/>
          <a:p>
            <a:r>
              <a:t>WHAT TO SAY:</a:t>
            </a:r>
          </a:p>
          <a:p>
            <a:r>
              <a:t>Contribution 1 — Operational integration: one mobile environment for membership, savings, lending, governance and reporting.</a:t>
            </a:r>
          </a:p>
          <a:p/>
          <a:p>
            <a:r>
              <a:t>Contribution 2 — Decision support: advisory credit view from contribution, repayment, attendance and membership data — committee retains authority.</a:t>
            </a:r>
          </a:p>
          <a:p/>
          <a:p>
            <a:r>
              <a:t>Contribution 3 — Controlled access: authentication and role-based permissions for financial and admin functions.</a:t>
            </a:r>
          </a:p>
          <a:p/>
          <a:p>
            <a:r>
              <a:t>The contribution is the integration into a single decision-support environment — not one feature in isolation.</a:t>
            </a:r>
          </a:p>
          <a:p/>
          <a:p>
            <a:r>
              <a:t>IF ASKED "What is innovative?": Not inventing digital savings, but integrating chama lifecycle modules with credit-aware support while retaining human committee authority.</a:t>
            </a:r>
          </a:p>
          <a:p/>
          <a:p>
            <a:r>
              <a:t>TRANSITION: From explanation to the live product.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 then OPEN APP</a:t>
            </a:r>
          </a:p>
          <a:p/>
          <a:p>
            <a:r>
              <a:t>WHAT TO SAY:</a:t>
            </a:r>
          </a:p>
          <a:p>
            <a:r>
              <a:t>I have walked through the problem, gap, objectives, solution, credit-aware design, architecture, methodology, scope, testing and contribution.</a:t>
            </a:r>
          </a:p>
          <a:p/>
          <a:p>
            <a:r>
              <a:t>Having established that foundation, I now demonstrate ChamaPlus and show how these design decisions appear in practice.</a:t>
            </a:r>
          </a:p>
          <a:p/>
          <a:p>
            <a:r>
              <a:t>[OPEN CHAMAPLUS APPLICATION]</a:t>
            </a:r>
          </a:p>
          <a:p/>
          <a:p>
            <a:r>
              <a:t>DEMO ORDER (~8–12 minutes after slides):</a:t>
            </a:r>
          </a:p>
          <a:p>
            <a:r>
              <a:t>1. Login → dashboard — "Authentication governs all subsequent access."</a:t>
            </a:r>
          </a:p>
          <a:p>
            <a:r>
              <a:t>2. Chama / members / roles — "Users operate within a chama context."</a:t>
            </a:r>
          </a:p>
          <a:p>
            <a:r>
              <a:t>3. Contributions — cycle → record → history</a:t>
            </a:r>
          </a:p>
          <a:p>
            <a:r>
              <a:t>4. Loans — product → application → voting → repayment</a:t>
            </a:r>
          </a:p>
          <a:p>
            <a:r>
              <a:t>5. Credit score — EMPHASIZE: advisory only, committee decides</a:t>
            </a:r>
          </a:p>
          <a:p>
            <a:r>
              <a:t>6. Governance — meeting → attendance → minutes</a:t>
            </a:r>
          </a:p>
          <a:p>
            <a:r>
              <a:t>7. Dashboard / reports — monitoring and summaries</a:t>
            </a:r>
          </a:p>
          <a:p/>
          <a:p>
            <a:r>
              <a:t>MEMORIZE THE STORY ARC:</a:t>
            </a:r>
          </a:p>
          <a:p>
            <a:r>
              <a:t>Problem → Fragmentation → Integration gap → ChamaPlus → Credit-aware (not autonomous) → Architecture → Agile build → Implemented scope → Test evidence → Contribution → LIVE DEMO</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698480" cy="1645920"/>
          </a:xfrm>
          <a:prstGeom prst="rect">
            <a:avLst/>
          </a:prstGeom>
          <a:noFill/>
        </p:spPr>
        <p:txBody>
          <a:bodyPr wrap="square">
            <a:spAutoFit/>
          </a:bodyPr>
          <a:lstStyle/>
          <a:p>
            <a:r>
              <a:rPr sz="4200" b="1">
                <a:solidFill>
                  <a:srgbClr val="192D4B"/>
                </a:solidFill>
              </a:rPr>
              <a:t>CHAMAPLUS</a:t>
            </a:r>
          </a:p>
          <a:p>
            <a:r>
              <a:rPr sz="2700">
                <a:solidFill>
                  <a:srgbClr val="23282D"/>
                </a:solidFill>
              </a:rPr>
              <a:t>A Credit-Aware Decision Support Platform for Informal Savings Groups in Kenya</a:t>
            </a:r>
          </a:p>
          <a:p>
            <a:r>
              <a:rPr sz="2000" b="1">
                <a:solidFill>
                  <a:srgbClr val="287878"/>
                </a:solidFill>
              </a:rPr>
              <a:t>Project Presentation</a:t>
            </a:r>
          </a:p>
        </p:txBody>
      </p:sp>
      <p:sp>
        <p:nvSpPr>
          <p:cNvPr id="5" name="TextBox 4"/>
          <p:cNvSpPr txBox="1"/>
          <p:nvPr/>
        </p:nvSpPr>
        <p:spPr>
          <a:xfrm>
            <a:off x="777240" y="3886200"/>
            <a:ext cx="7772400" cy="1371600"/>
          </a:xfrm>
          <a:prstGeom prst="rect">
            <a:avLst/>
          </a:prstGeom>
          <a:noFill/>
        </p:spPr>
        <p:txBody>
          <a:bodyPr wrap="none">
            <a:spAutoFit/>
          </a:bodyPr>
          <a:lstStyle/>
          <a:p>
            <a:pPr>
              <a:spcAft>
                <a:spcPts val="500"/>
              </a:spcAft>
              <a:defRPr sz="1600">
                <a:solidFill>
                  <a:srgbClr val="23282D"/>
                </a:solidFill>
              </a:defRPr>
            </a:pPr>
            <a:r>
              <a:t>Edna Kemunto Bitange  |  BBIT/2023/41222</a:t>
            </a:r>
          </a:p>
          <a:p>
            <a:pPr>
              <a:spcAft>
                <a:spcPts val="500"/>
              </a:spcAft>
              <a:defRPr sz="1400">
                <a:solidFill>
                  <a:srgbClr val="23282D"/>
                </a:solidFill>
              </a:defRPr>
            </a:pPr>
            <a:r>
              <a:t>School of Computing and Informatics</a:t>
            </a:r>
          </a:p>
          <a:p>
            <a:pPr>
              <a:spcAft>
                <a:spcPts val="500"/>
              </a:spcAft>
              <a:defRPr sz="1400">
                <a:solidFill>
                  <a:srgbClr val="23282D"/>
                </a:solidFill>
              </a:defRPr>
            </a:pPr>
            <a:r>
              <a:t>Department of Enterprise Computing</a:t>
            </a:r>
          </a:p>
          <a:p>
            <a:pPr>
              <a:spcAft>
                <a:spcPts val="500"/>
              </a:spcAft>
              <a:defRPr sz="1400">
                <a:solidFill>
                  <a:srgbClr val="23282D"/>
                </a:solidFill>
              </a:defRPr>
            </a:pPr>
            <a:r>
              <a:t>Mount Kenya University  |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972800" cy="502920"/>
          </a:xfrm>
          <a:prstGeom prst="rect">
            <a:avLst/>
          </a:prstGeom>
          <a:noFill/>
        </p:spPr>
        <p:txBody>
          <a:bodyPr wrap="none">
            <a:spAutoFit/>
          </a:bodyPr>
          <a:lstStyle/>
          <a:p>
            <a:r>
              <a:rPr sz="2700" b="1">
                <a:solidFill>
                  <a:srgbClr val="192D4B"/>
                </a:solidFill>
              </a:rPr>
              <a:t>1. Project Context</a:t>
            </a:r>
          </a:p>
        </p:txBody>
      </p:sp>
      <p:sp>
        <p:nvSpPr>
          <p:cNvPr id="5" name="TextBox 4"/>
          <p:cNvSpPr txBox="1"/>
          <p:nvPr/>
        </p:nvSpPr>
        <p:spPr>
          <a:xfrm>
            <a:off x="612648" y="841248"/>
            <a:ext cx="10789920" cy="365760"/>
          </a:xfrm>
          <a:prstGeom prst="rect">
            <a:avLst/>
          </a:prstGeom>
          <a:noFill/>
        </p:spPr>
        <p:txBody>
          <a:bodyPr wrap="none">
            <a:spAutoFit/>
          </a:bodyPr>
          <a:lstStyle/>
          <a:p>
            <a:r>
              <a:rPr sz="1200">
                <a:solidFill>
                  <a:srgbClr val="69737D"/>
                </a:solidFill>
              </a:rPr>
              <a:t>Why this problem matters</a:t>
            </a:r>
          </a:p>
        </p:txBody>
      </p:sp>
      <p:sp>
        <p:nvSpPr>
          <p:cNvPr id="6" name="Rounded Rectangle 5"/>
          <p:cNvSpPr/>
          <p:nvPr/>
        </p:nvSpPr>
        <p:spPr>
          <a:xfrm>
            <a:off x="685800" y="1417320"/>
            <a:ext cx="3429000" cy="338328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73152" cy="338328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581912"/>
            <a:ext cx="3063240" cy="411480"/>
          </a:xfrm>
          <a:prstGeom prst="rect">
            <a:avLst/>
          </a:prstGeom>
          <a:noFill/>
        </p:spPr>
        <p:txBody>
          <a:bodyPr wrap="none">
            <a:spAutoFit/>
          </a:bodyPr>
          <a:lstStyle/>
          <a:p>
            <a:r>
              <a:rPr b="1" sz="1700">
                <a:solidFill>
                  <a:srgbClr val="192D4B"/>
                </a:solidFill>
              </a:rPr>
              <a:t>The setting</a:t>
            </a:r>
          </a:p>
        </p:txBody>
      </p:sp>
      <p:sp>
        <p:nvSpPr>
          <p:cNvPr id="9" name="TextBox 8"/>
          <p:cNvSpPr txBox="1"/>
          <p:nvPr/>
        </p:nvSpPr>
        <p:spPr>
          <a:xfrm>
            <a:off x="886968" y="2057400"/>
            <a:ext cx="3063240" cy="2606040"/>
          </a:xfrm>
          <a:prstGeom prst="rect">
            <a:avLst/>
          </a:prstGeom>
          <a:noFill/>
        </p:spPr>
        <p:txBody>
          <a:bodyPr wrap="none">
            <a:spAutoFit/>
          </a:bodyPr>
          <a:lstStyle/>
          <a:p>
            <a:r>
              <a:rPr sz="1300">
                <a:solidFill>
                  <a:srgbClr val="23282D"/>
                </a:solidFill>
              </a:rPr>
              <a:t>Chamas support collective saving, lending and group decision-making. As activities grow, accurate and connected records become increasingly important.</a:t>
            </a:r>
          </a:p>
        </p:txBody>
      </p:sp>
      <p:sp>
        <p:nvSpPr>
          <p:cNvPr id="10" name="Rounded Rectangle 9"/>
          <p:cNvSpPr/>
          <p:nvPr/>
        </p:nvSpPr>
        <p:spPr>
          <a:xfrm>
            <a:off x="4389120" y="1417320"/>
            <a:ext cx="3429000" cy="338328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417320"/>
            <a:ext cx="73152" cy="338328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581912"/>
            <a:ext cx="3063240" cy="411480"/>
          </a:xfrm>
          <a:prstGeom prst="rect">
            <a:avLst/>
          </a:prstGeom>
          <a:noFill/>
        </p:spPr>
        <p:txBody>
          <a:bodyPr wrap="none">
            <a:spAutoFit/>
          </a:bodyPr>
          <a:lstStyle/>
          <a:p>
            <a:r>
              <a:rPr b="1" sz="1700">
                <a:solidFill>
                  <a:srgbClr val="192D4B"/>
                </a:solidFill>
              </a:rPr>
              <a:t>The challenge</a:t>
            </a:r>
          </a:p>
        </p:txBody>
      </p:sp>
      <p:sp>
        <p:nvSpPr>
          <p:cNvPr id="13" name="TextBox 12"/>
          <p:cNvSpPr txBox="1"/>
          <p:nvPr/>
        </p:nvSpPr>
        <p:spPr>
          <a:xfrm>
            <a:off x="4590288" y="2057400"/>
            <a:ext cx="3063240" cy="2606040"/>
          </a:xfrm>
          <a:prstGeom prst="rect">
            <a:avLst/>
          </a:prstGeom>
          <a:noFill/>
        </p:spPr>
        <p:txBody>
          <a:bodyPr wrap="none">
            <a:spAutoFit/>
          </a:bodyPr>
          <a:lstStyle/>
          <a:p>
            <a:r>
              <a:rPr sz="1300">
                <a:solidFill>
                  <a:srgbClr val="23282D"/>
                </a:solidFill>
              </a:rPr>
              <a:t>Records may be distributed across notebooks, spreadsheets and messaging channels, making it harder to maintain one reliable view of members, contributions, loans and meetings.</a:t>
            </a:r>
          </a:p>
        </p:txBody>
      </p:sp>
      <p:sp>
        <p:nvSpPr>
          <p:cNvPr id="14" name="Rounded Rectangle 13"/>
          <p:cNvSpPr/>
          <p:nvPr/>
        </p:nvSpPr>
        <p:spPr>
          <a:xfrm>
            <a:off x="8092440" y="1417320"/>
            <a:ext cx="3429000" cy="338328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1417320"/>
            <a:ext cx="73152" cy="3383280"/>
          </a:xfrm>
          <a:prstGeom prst="rect">
            <a:avLst/>
          </a:prstGeom>
          <a:solidFill>
            <a:srgbClr val="37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1581912"/>
            <a:ext cx="3063240" cy="411480"/>
          </a:xfrm>
          <a:prstGeom prst="rect">
            <a:avLst/>
          </a:prstGeom>
          <a:noFill/>
        </p:spPr>
        <p:txBody>
          <a:bodyPr wrap="none">
            <a:spAutoFit/>
          </a:bodyPr>
          <a:lstStyle/>
          <a:p>
            <a:r>
              <a:rPr b="1" sz="1700">
                <a:solidFill>
                  <a:srgbClr val="192D4B"/>
                </a:solidFill>
              </a:rPr>
              <a:t>The opportunity</a:t>
            </a:r>
          </a:p>
        </p:txBody>
      </p:sp>
      <p:sp>
        <p:nvSpPr>
          <p:cNvPr id="17" name="TextBox 16"/>
          <p:cNvSpPr txBox="1"/>
          <p:nvPr/>
        </p:nvSpPr>
        <p:spPr>
          <a:xfrm>
            <a:off x="8293608" y="2057400"/>
            <a:ext cx="3063240" cy="2606040"/>
          </a:xfrm>
          <a:prstGeom prst="rect">
            <a:avLst/>
          </a:prstGeom>
          <a:noFill/>
        </p:spPr>
        <p:txBody>
          <a:bodyPr wrap="none">
            <a:spAutoFit/>
          </a:bodyPr>
          <a:lstStyle/>
          <a:p>
            <a:r>
              <a:rPr sz="1300">
                <a:solidFill>
                  <a:srgbClr val="23282D"/>
                </a:solidFill>
              </a:rPr>
              <a:t>A mobile platform can bring these activities together, improve visibility and provide timely information while keeping human decision-making at the centre.</a:t>
            </a:r>
          </a:p>
        </p:txBody>
      </p:sp>
      <p:sp>
        <p:nvSpPr>
          <p:cNvPr id="18" name="TextBox 17"/>
          <p:cNvSpPr txBox="1"/>
          <p:nvPr/>
        </p:nvSpPr>
        <p:spPr>
          <a:xfrm>
            <a:off x="594360" y="6473952"/>
            <a:ext cx="10789920" cy="201168"/>
          </a:xfrm>
          <a:prstGeom prst="rect">
            <a:avLst/>
          </a:prstGeom>
          <a:noFill/>
        </p:spPr>
        <p:txBody>
          <a:bodyPr wrap="none">
            <a:spAutoFit/>
          </a:bodyPr>
          <a:lstStyle/>
          <a:p>
            <a:pPr algn="r"/>
            <a:r>
              <a:rPr sz="800">
                <a:solidFill>
                  <a:srgbClr val="69737D"/>
                </a:solidFill>
              </a:rPr>
              <a:t>ChamaPlus | Mount Kenya University | 2025/2026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972800" cy="502920"/>
          </a:xfrm>
          <a:prstGeom prst="rect">
            <a:avLst/>
          </a:prstGeom>
          <a:noFill/>
        </p:spPr>
        <p:txBody>
          <a:bodyPr wrap="none">
            <a:spAutoFit/>
          </a:bodyPr>
          <a:lstStyle/>
          <a:p>
            <a:r>
              <a:rPr sz="2700" b="1">
                <a:solidFill>
                  <a:srgbClr val="192D4B"/>
                </a:solidFill>
              </a:rPr>
              <a:t>2. Problem and Identified Gap</a:t>
            </a:r>
          </a:p>
        </p:txBody>
      </p:sp>
      <p:sp>
        <p:nvSpPr>
          <p:cNvPr id="5" name="TextBox 4"/>
          <p:cNvSpPr txBox="1"/>
          <p:nvPr/>
        </p:nvSpPr>
        <p:spPr>
          <a:xfrm>
            <a:off x="612648" y="841248"/>
            <a:ext cx="10789920" cy="365760"/>
          </a:xfrm>
          <a:prstGeom prst="rect">
            <a:avLst/>
          </a:prstGeom>
          <a:noFill/>
        </p:spPr>
        <p:txBody>
          <a:bodyPr wrap="none">
            <a:spAutoFit/>
          </a:bodyPr>
          <a:lstStyle/>
          <a:p>
            <a:r>
              <a:rPr sz="1200">
                <a:solidFill>
                  <a:srgbClr val="69737D"/>
                </a:solidFill>
              </a:rPr>
              <a:t>From fragmented records to integrated decision support</a:t>
            </a:r>
          </a:p>
        </p:txBody>
      </p:sp>
      <p:sp>
        <p:nvSpPr>
          <p:cNvPr id="6" name="Rounded Rectangle 5"/>
          <p:cNvSpPr/>
          <p:nvPr/>
        </p:nvSpPr>
        <p:spPr>
          <a:xfrm>
            <a:off x="685800" y="1325880"/>
            <a:ext cx="5120640" cy="43891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325880"/>
            <a:ext cx="73152" cy="438912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490472"/>
            <a:ext cx="4754879" cy="411480"/>
          </a:xfrm>
          <a:prstGeom prst="rect">
            <a:avLst/>
          </a:prstGeom>
          <a:noFill/>
        </p:spPr>
        <p:txBody>
          <a:bodyPr wrap="none">
            <a:spAutoFit/>
          </a:bodyPr>
          <a:lstStyle/>
          <a:p>
            <a:r>
              <a:rPr b="1" sz="1700">
                <a:solidFill>
                  <a:srgbClr val="192D4B"/>
                </a:solidFill>
              </a:rPr>
              <a:t>Problem</a:t>
            </a:r>
          </a:p>
        </p:txBody>
      </p:sp>
      <p:sp>
        <p:nvSpPr>
          <p:cNvPr id="9" name="TextBox 8"/>
          <p:cNvSpPr txBox="1"/>
          <p:nvPr/>
        </p:nvSpPr>
        <p:spPr>
          <a:xfrm>
            <a:off x="886968" y="1965960"/>
            <a:ext cx="4754879" cy="3611879"/>
          </a:xfrm>
          <a:prstGeom prst="rect">
            <a:avLst/>
          </a:prstGeom>
          <a:noFill/>
        </p:spPr>
        <p:txBody>
          <a:bodyPr wrap="none">
            <a:spAutoFit/>
          </a:bodyPr>
          <a:lstStyle/>
          <a:p>
            <a:r>
              <a:rPr sz="1300">
                <a:solidFill>
                  <a:srgbClr val="23282D"/>
                </a:solidFill>
              </a:rPr>
              <a:t>• Fragmented membership and contribution records
• Difficult loan and repayment monitoring
• Manual reporting and delayed summaries
• Limited visibility of committee processes
• Weak separation of user responsibilities
• Limited information to support lending decisions</a:t>
            </a:r>
          </a:p>
        </p:txBody>
      </p:sp>
      <p:sp>
        <p:nvSpPr>
          <p:cNvPr id="10" name="Rounded Rectangle 9"/>
          <p:cNvSpPr/>
          <p:nvPr/>
        </p:nvSpPr>
        <p:spPr>
          <a:xfrm>
            <a:off x="6172200" y="1325880"/>
            <a:ext cx="5303520" cy="43891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325880"/>
            <a:ext cx="73152" cy="438912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490472"/>
            <a:ext cx="4937759" cy="411480"/>
          </a:xfrm>
          <a:prstGeom prst="rect">
            <a:avLst/>
          </a:prstGeom>
          <a:noFill/>
        </p:spPr>
        <p:txBody>
          <a:bodyPr wrap="none">
            <a:spAutoFit/>
          </a:bodyPr>
          <a:lstStyle/>
          <a:p>
            <a:r>
              <a:rPr b="1" sz="1700">
                <a:solidFill>
                  <a:srgbClr val="192D4B"/>
                </a:solidFill>
              </a:rPr>
              <a:t>Identified gap</a:t>
            </a:r>
          </a:p>
        </p:txBody>
      </p:sp>
      <p:sp>
        <p:nvSpPr>
          <p:cNvPr id="13" name="TextBox 12"/>
          <p:cNvSpPr txBox="1"/>
          <p:nvPr/>
        </p:nvSpPr>
        <p:spPr>
          <a:xfrm>
            <a:off x="6373368" y="1965960"/>
            <a:ext cx="4937759" cy="3611879"/>
          </a:xfrm>
          <a:prstGeom prst="rect">
            <a:avLst/>
          </a:prstGeom>
          <a:noFill/>
        </p:spPr>
        <p:txBody>
          <a:bodyPr wrap="none">
            <a:spAutoFit/>
          </a:bodyPr>
          <a:lstStyle/>
          <a:p>
            <a:r>
              <a:rPr sz="1300">
                <a:solidFill>
                  <a:srgbClr val="23282D"/>
                </a:solidFill>
              </a:rPr>
              <a:t>Existing digital approaches can address individual functions, but the project identified a need for one mobile environment connecting:
Membership  +  Savings  +  Lending  +  Governance  +  Credit support  +  Reporting</a:t>
            </a:r>
          </a:p>
        </p:txBody>
      </p:sp>
      <p:sp>
        <p:nvSpPr>
          <p:cNvPr id="14" name="TextBox 13"/>
          <p:cNvSpPr txBox="1"/>
          <p:nvPr/>
        </p:nvSpPr>
        <p:spPr>
          <a:xfrm>
            <a:off x="594360" y="6473952"/>
            <a:ext cx="10789920" cy="201168"/>
          </a:xfrm>
          <a:prstGeom prst="rect">
            <a:avLst/>
          </a:prstGeom>
          <a:noFill/>
        </p:spPr>
        <p:txBody>
          <a:bodyPr wrap="none">
            <a:spAutoFit/>
          </a:bodyPr>
          <a:lstStyle/>
          <a:p>
            <a:pPr algn="r"/>
            <a:r>
              <a:rPr sz="800">
                <a:solidFill>
                  <a:srgbClr val="69737D"/>
                </a:solidFill>
              </a:rPr>
              <a:t>ChamaPlus | Problem → Gap → Proposed response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972800" cy="502920"/>
          </a:xfrm>
          <a:prstGeom prst="rect">
            <a:avLst/>
          </a:prstGeom>
          <a:noFill/>
        </p:spPr>
        <p:txBody>
          <a:bodyPr wrap="none">
            <a:spAutoFit/>
          </a:bodyPr>
          <a:lstStyle/>
          <a:p>
            <a:r>
              <a:rPr sz="2700" b="1">
                <a:solidFill>
                  <a:srgbClr val="192D4B"/>
                </a:solidFill>
              </a:rPr>
              <a:t>3. Project Objectives</a:t>
            </a:r>
          </a:p>
        </p:txBody>
      </p:sp>
      <p:sp>
        <p:nvSpPr>
          <p:cNvPr id="5" name="TextBox 4"/>
          <p:cNvSpPr txBox="1"/>
          <p:nvPr/>
        </p:nvSpPr>
        <p:spPr>
          <a:xfrm>
            <a:off x="612648" y="841248"/>
            <a:ext cx="10789920" cy="365760"/>
          </a:xfrm>
          <a:prstGeom prst="rect">
            <a:avLst/>
          </a:prstGeom>
          <a:noFill/>
        </p:spPr>
        <p:txBody>
          <a:bodyPr wrap="none">
            <a:spAutoFit/>
          </a:bodyPr>
          <a:lstStyle/>
          <a:p>
            <a:r>
              <a:rPr sz="1200">
                <a:solidFill>
                  <a:srgbClr val="69737D"/>
                </a:solidFill>
              </a:rPr>
              <a:t>What the project set out to achieve</a:t>
            </a:r>
          </a:p>
        </p:txBody>
      </p:sp>
      <p:sp>
        <p:nvSpPr>
          <p:cNvPr id="6" name="Oval 5"/>
          <p:cNvSpPr/>
          <p:nvPr/>
        </p:nvSpPr>
        <p:spPr>
          <a:xfrm>
            <a:off x="777240" y="1325880"/>
            <a:ext cx="658368" cy="658368"/>
          </a:xfrm>
          <a:prstGeom prst="ellipse">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01</a:t>
            </a:r>
          </a:p>
        </p:txBody>
      </p:sp>
      <p:sp>
        <p:nvSpPr>
          <p:cNvPr id="7" name="TextBox 6"/>
          <p:cNvSpPr txBox="1"/>
          <p:nvPr/>
        </p:nvSpPr>
        <p:spPr>
          <a:xfrm>
            <a:off x="1645920" y="1307592"/>
            <a:ext cx="9784080" cy="914400"/>
          </a:xfrm>
          <a:prstGeom prst="rect">
            <a:avLst/>
          </a:prstGeom>
          <a:noFill/>
        </p:spPr>
        <p:txBody>
          <a:bodyPr wrap="none">
            <a:spAutoFit/>
          </a:bodyPr>
          <a:lstStyle/>
          <a:p>
            <a:r>
              <a:rPr sz="1900">
                <a:solidFill>
                  <a:srgbClr val="23282D"/>
                </a:solidFill>
              </a:rPr>
              <a:t>Investigate challenges in manual and semi-digital chama management.</a:t>
            </a:r>
          </a:p>
        </p:txBody>
      </p:sp>
      <p:sp>
        <p:nvSpPr>
          <p:cNvPr id="8" name="Oval 7"/>
          <p:cNvSpPr/>
          <p:nvPr/>
        </p:nvSpPr>
        <p:spPr>
          <a:xfrm>
            <a:off x="777240" y="2834639"/>
            <a:ext cx="658368" cy="658368"/>
          </a:xfrm>
          <a:prstGeom prst="ellipse">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02</a:t>
            </a:r>
          </a:p>
        </p:txBody>
      </p:sp>
      <p:sp>
        <p:nvSpPr>
          <p:cNvPr id="9" name="TextBox 8"/>
          <p:cNvSpPr txBox="1"/>
          <p:nvPr/>
        </p:nvSpPr>
        <p:spPr>
          <a:xfrm>
            <a:off x="1645920" y="2816351"/>
            <a:ext cx="9784080" cy="914400"/>
          </a:xfrm>
          <a:prstGeom prst="rect">
            <a:avLst/>
          </a:prstGeom>
          <a:noFill/>
        </p:spPr>
        <p:txBody>
          <a:bodyPr wrap="none">
            <a:spAutoFit/>
          </a:bodyPr>
          <a:lstStyle/>
          <a:p>
            <a:r>
              <a:rPr sz="1900">
                <a:solidFill>
                  <a:srgbClr val="23282D"/>
                </a:solidFill>
              </a:rPr>
              <a:t>Design and develop an integrated mobile platform for membership, contributions, loans, governance, reporting and credit-aware decision support.</a:t>
            </a:r>
          </a:p>
        </p:txBody>
      </p:sp>
      <p:sp>
        <p:nvSpPr>
          <p:cNvPr id="10" name="Oval 9"/>
          <p:cNvSpPr/>
          <p:nvPr/>
        </p:nvSpPr>
        <p:spPr>
          <a:xfrm>
            <a:off x="777240" y="4343400"/>
            <a:ext cx="658368" cy="658368"/>
          </a:xfrm>
          <a:prstGeom prst="ellipse">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03</a:t>
            </a:r>
          </a:p>
        </p:txBody>
      </p:sp>
      <p:sp>
        <p:nvSpPr>
          <p:cNvPr id="11" name="TextBox 10"/>
          <p:cNvSpPr txBox="1"/>
          <p:nvPr/>
        </p:nvSpPr>
        <p:spPr>
          <a:xfrm>
            <a:off x="1645920" y="4325112"/>
            <a:ext cx="9784080" cy="914400"/>
          </a:xfrm>
          <a:prstGeom prst="rect">
            <a:avLst/>
          </a:prstGeom>
          <a:noFill/>
        </p:spPr>
        <p:txBody>
          <a:bodyPr wrap="none">
            <a:spAutoFit/>
          </a:bodyPr>
          <a:lstStyle/>
          <a:p>
            <a:r>
              <a:rPr sz="1900">
                <a:solidFill>
                  <a:srgbClr val="23282D"/>
                </a:solidFill>
              </a:rPr>
              <a:t>Test and evaluate the functionality, reliability and usability of the developed prototype.</a:t>
            </a:r>
          </a:p>
        </p:txBody>
      </p:sp>
      <p:sp>
        <p:nvSpPr>
          <p:cNvPr id="12" name="TextBox 11"/>
          <p:cNvSpPr txBox="1"/>
          <p:nvPr/>
        </p:nvSpPr>
        <p:spPr>
          <a:xfrm>
            <a:off x="594360" y="6473952"/>
            <a:ext cx="10789920" cy="201168"/>
          </a:xfrm>
          <a:prstGeom prst="rect">
            <a:avLst/>
          </a:prstGeom>
          <a:noFill/>
        </p:spPr>
        <p:txBody>
          <a:bodyPr wrap="none">
            <a:spAutoFit/>
          </a:bodyPr>
          <a:lstStyle/>
          <a:p>
            <a:pPr algn="r"/>
            <a:r>
              <a:rPr sz="800">
                <a:solidFill>
                  <a:srgbClr val="69737D"/>
                </a:solidFill>
              </a:rPr>
              <a:t>ChamaPlus | Mount Kenya University | 2025/2026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972800" cy="502920"/>
          </a:xfrm>
          <a:prstGeom prst="rect">
            <a:avLst/>
          </a:prstGeom>
          <a:noFill/>
        </p:spPr>
        <p:txBody>
          <a:bodyPr wrap="none">
            <a:spAutoFit/>
          </a:bodyPr>
          <a:lstStyle/>
          <a:p>
            <a:r>
              <a:rPr sz="2700" b="1">
                <a:solidFill>
                  <a:srgbClr val="192D4B"/>
                </a:solidFill>
              </a:rPr>
              <a:t>4. Proposed Solution: ChamaPlus</a:t>
            </a:r>
          </a:p>
        </p:txBody>
      </p:sp>
      <p:sp>
        <p:nvSpPr>
          <p:cNvPr id="5" name="TextBox 4"/>
          <p:cNvSpPr txBox="1"/>
          <p:nvPr/>
        </p:nvSpPr>
        <p:spPr>
          <a:xfrm>
            <a:off x="612648" y="841248"/>
            <a:ext cx="10789920" cy="365760"/>
          </a:xfrm>
          <a:prstGeom prst="rect">
            <a:avLst/>
          </a:prstGeom>
          <a:noFill/>
        </p:spPr>
        <p:txBody>
          <a:bodyPr wrap="none">
            <a:spAutoFit/>
          </a:bodyPr>
          <a:lstStyle/>
          <a:p>
            <a:r>
              <a:rPr sz="1200">
                <a:solidFill>
                  <a:srgbClr val="69737D"/>
                </a:solidFill>
              </a:rPr>
              <a:t>One platform connecting the chama lifecycle</a:t>
            </a:r>
          </a:p>
        </p:txBody>
      </p:sp>
      <p:sp>
        <p:nvSpPr>
          <p:cNvPr id="6" name="Rounded Rectangle 5"/>
          <p:cNvSpPr/>
          <p:nvPr/>
        </p:nvSpPr>
        <p:spPr>
          <a:xfrm>
            <a:off x="640080" y="128016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28016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444751"/>
            <a:ext cx="2788920" cy="411480"/>
          </a:xfrm>
          <a:prstGeom prst="rect">
            <a:avLst/>
          </a:prstGeom>
          <a:noFill/>
        </p:spPr>
        <p:txBody>
          <a:bodyPr wrap="none">
            <a:spAutoFit/>
          </a:bodyPr>
          <a:lstStyle/>
          <a:p>
            <a:r>
              <a:rPr b="1" sz="1700">
                <a:solidFill>
                  <a:srgbClr val="192D4B"/>
                </a:solidFill>
              </a:rPr>
              <a:t>Membership</a:t>
            </a:r>
          </a:p>
        </p:txBody>
      </p:sp>
      <p:sp>
        <p:nvSpPr>
          <p:cNvPr id="9" name="TextBox 8"/>
          <p:cNvSpPr txBox="1"/>
          <p:nvPr/>
        </p:nvSpPr>
        <p:spPr>
          <a:xfrm>
            <a:off x="841247" y="1920239"/>
            <a:ext cx="2788920" cy="914400"/>
          </a:xfrm>
          <a:prstGeom prst="rect">
            <a:avLst/>
          </a:prstGeom>
          <a:noFill/>
        </p:spPr>
        <p:txBody>
          <a:bodyPr wrap="none">
            <a:spAutoFit/>
          </a:bodyPr>
          <a:lstStyle/>
          <a:p>
            <a:r>
              <a:rPr sz="1300">
                <a:solidFill>
                  <a:srgbClr val="23282D"/>
                </a:solidFill>
              </a:rPr>
              <a:t>Users, chamas, roles</a:t>
            </a:r>
          </a:p>
        </p:txBody>
      </p:sp>
      <p:sp>
        <p:nvSpPr>
          <p:cNvPr id="10" name="Rounded Rectangle 9"/>
          <p:cNvSpPr/>
          <p:nvPr/>
        </p:nvSpPr>
        <p:spPr>
          <a:xfrm>
            <a:off x="4160520" y="128016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60520" y="128016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61688" y="1444751"/>
            <a:ext cx="2788920" cy="411480"/>
          </a:xfrm>
          <a:prstGeom prst="rect">
            <a:avLst/>
          </a:prstGeom>
          <a:noFill/>
        </p:spPr>
        <p:txBody>
          <a:bodyPr wrap="none">
            <a:spAutoFit/>
          </a:bodyPr>
          <a:lstStyle/>
          <a:p>
            <a:r>
              <a:rPr b="1" sz="1700">
                <a:solidFill>
                  <a:srgbClr val="192D4B"/>
                </a:solidFill>
              </a:rPr>
              <a:t>Savings</a:t>
            </a:r>
          </a:p>
        </p:txBody>
      </p:sp>
      <p:sp>
        <p:nvSpPr>
          <p:cNvPr id="13" name="TextBox 12"/>
          <p:cNvSpPr txBox="1"/>
          <p:nvPr/>
        </p:nvSpPr>
        <p:spPr>
          <a:xfrm>
            <a:off x="4361688" y="1920239"/>
            <a:ext cx="2788920" cy="914400"/>
          </a:xfrm>
          <a:prstGeom prst="rect">
            <a:avLst/>
          </a:prstGeom>
          <a:noFill/>
        </p:spPr>
        <p:txBody>
          <a:bodyPr wrap="none">
            <a:spAutoFit/>
          </a:bodyPr>
          <a:lstStyle/>
          <a:p>
            <a:r>
              <a:rPr sz="1300">
                <a:solidFill>
                  <a:srgbClr val="23282D"/>
                </a:solidFill>
              </a:rPr>
              <a:t>Cycles, contributions, history</a:t>
            </a:r>
          </a:p>
        </p:txBody>
      </p:sp>
      <p:sp>
        <p:nvSpPr>
          <p:cNvPr id="14" name="Rounded Rectangle 13"/>
          <p:cNvSpPr/>
          <p:nvPr/>
        </p:nvSpPr>
        <p:spPr>
          <a:xfrm>
            <a:off x="7680960" y="128016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128016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8" y="1444751"/>
            <a:ext cx="2788920" cy="411480"/>
          </a:xfrm>
          <a:prstGeom prst="rect">
            <a:avLst/>
          </a:prstGeom>
          <a:noFill/>
        </p:spPr>
        <p:txBody>
          <a:bodyPr wrap="none">
            <a:spAutoFit/>
          </a:bodyPr>
          <a:lstStyle/>
          <a:p>
            <a:r>
              <a:rPr b="1" sz="1700">
                <a:solidFill>
                  <a:srgbClr val="192D4B"/>
                </a:solidFill>
              </a:rPr>
              <a:t>Lending</a:t>
            </a:r>
          </a:p>
        </p:txBody>
      </p:sp>
      <p:sp>
        <p:nvSpPr>
          <p:cNvPr id="17" name="TextBox 16"/>
          <p:cNvSpPr txBox="1"/>
          <p:nvPr/>
        </p:nvSpPr>
        <p:spPr>
          <a:xfrm>
            <a:off x="7882128" y="1920239"/>
            <a:ext cx="2788920" cy="914400"/>
          </a:xfrm>
          <a:prstGeom prst="rect">
            <a:avLst/>
          </a:prstGeom>
          <a:noFill/>
        </p:spPr>
        <p:txBody>
          <a:bodyPr wrap="none">
            <a:spAutoFit/>
          </a:bodyPr>
          <a:lstStyle/>
          <a:p>
            <a:r>
              <a:rPr sz="1300">
                <a:solidFill>
                  <a:srgbClr val="23282D"/>
                </a:solidFill>
              </a:rPr>
              <a:t>Products, applications, votes, repayments</a:t>
            </a:r>
          </a:p>
        </p:txBody>
      </p:sp>
      <p:sp>
        <p:nvSpPr>
          <p:cNvPr id="18" name="Rounded Rectangle 17"/>
          <p:cNvSpPr/>
          <p:nvPr/>
        </p:nvSpPr>
        <p:spPr>
          <a:xfrm>
            <a:off x="2423160" y="365760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423160" y="365760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4328" y="3822191"/>
            <a:ext cx="2788920" cy="411480"/>
          </a:xfrm>
          <a:prstGeom prst="rect">
            <a:avLst/>
          </a:prstGeom>
          <a:noFill/>
        </p:spPr>
        <p:txBody>
          <a:bodyPr wrap="none">
            <a:spAutoFit/>
          </a:bodyPr>
          <a:lstStyle/>
          <a:p>
            <a:r>
              <a:rPr b="1" sz="1700">
                <a:solidFill>
                  <a:srgbClr val="192D4B"/>
                </a:solidFill>
              </a:rPr>
              <a:t>Governance</a:t>
            </a:r>
          </a:p>
        </p:txBody>
      </p:sp>
      <p:sp>
        <p:nvSpPr>
          <p:cNvPr id="21" name="TextBox 20"/>
          <p:cNvSpPr txBox="1"/>
          <p:nvPr/>
        </p:nvSpPr>
        <p:spPr>
          <a:xfrm>
            <a:off x="2624328" y="4297680"/>
            <a:ext cx="2788920" cy="914400"/>
          </a:xfrm>
          <a:prstGeom prst="rect">
            <a:avLst/>
          </a:prstGeom>
          <a:noFill/>
        </p:spPr>
        <p:txBody>
          <a:bodyPr wrap="none">
            <a:spAutoFit/>
          </a:bodyPr>
          <a:lstStyle/>
          <a:p>
            <a:r>
              <a:rPr sz="1300">
                <a:solidFill>
                  <a:srgbClr val="23282D"/>
                </a:solidFill>
              </a:rPr>
              <a:t>Meetings, attendance, minutes, actions</a:t>
            </a:r>
          </a:p>
        </p:txBody>
      </p:sp>
      <p:sp>
        <p:nvSpPr>
          <p:cNvPr id="22" name="Rounded Rectangle 21"/>
          <p:cNvSpPr/>
          <p:nvPr/>
        </p:nvSpPr>
        <p:spPr>
          <a:xfrm>
            <a:off x="5943600" y="365760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43600" y="365760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44768" y="3822191"/>
            <a:ext cx="2788920" cy="411480"/>
          </a:xfrm>
          <a:prstGeom prst="rect">
            <a:avLst/>
          </a:prstGeom>
          <a:noFill/>
        </p:spPr>
        <p:txBody>
          <a:bodyPr wrap="none">
            <a:spAutoFit/>
          </a:bodyPr>
          <a:lstStyle/>
          <a:p>
            <a:r>
              <a:rPr b="1" sz="1700">
                <a:solidFill>
                  <a:srgbClr val="192D4B"/>
                </a:solidFill>
              </a:rPr>
              <a:t>Decision Support</a:t>
            </a:r>
          </a:p>
        </p:txBody>
      </p:sp>
      <p:sp>
        <p:nvSpPr>
          <p:cNvPr id="25" name="TextBox 24"/>
          <p:cNvSpPr txBox="1"/>
          <p:nvPr/>
        </p:nvSpPr>
        <p:spPr>
          <a:xfrm>
            <a:off x="6144768" y="4297680"/>
            <a:ext cx="2788920" cy="914400"/>
          </a:xfrm>
          <a:prstGeom prst="rect">
            <a:avLst/>
          </a:prstGeom>
          <a:noFill/>
        </p:spPr>
        <p:txBody>
          <a:bodyPr wrap="none">
            <a:spAutoFit/>
          </a:bodyPr>
          <a:lstStyle/>
          <a:p>
            <a:r>
              <a:rPr sz="1300">
                <a:solidFill>
                  <a:srgbClr val="23282D"/>
                </a:solidFill>
              </a:rPr>
              <a:t>Credit score and risk information</a:t>
            </a:r>
          </a:p>
        </p:txBody>
      </p:sp>
      <p:sp>
        <p:nvSpPr>
          <p:cNvPr id="26" name="Rounded Rectangle 25"/>
          <p:cNvSpPr/>
          <p:nvPr/>
        </p:nvSpPr>
        <p:spPr>
          <a:xfrm>
            <a:off x="9464040" y="365760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464040" y="365760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65208" y="3822191"/>
            <a:ext cx="2788920" cy="411480"/>
          </a:xfrm>
          <a:prstGeom prst="rect">
            <a:avLst/>
          </a:prstGeom>
          <a:noFill/>
        </p:spPr>
        <p:txBody>
          <a:bodyPr wrap="none">
            <a:spAutoFit/>
          </a:bodyPr>
          <a:lstStyle/>
          <a:p>
            <a:r>
              <a:rPr b="1" sz="1700">
                <a:solidFill>
                  <a:srgbClr val="192D4B"/>
                </a:solidFill>
              </a:rPr>
              <a:t>Visibility</a:t>
            </a:r>
          </a:p>
        </p:txBody>
      </p:sp>
      <p:sp>
        <p:nvSpPr>
          <p:cNvPr id="29" name="TextBox 28"/>
          <p:cNvSpPr txBox="1"/>
          <p:nvPr/>
        </p:nvSpPr>
        <p:spPr>
          <a:xfrm>
            <a:off x="9665208" y="4297680"/>
            <a:ext cx="2788920" cy="914400"/>
          </a:xfrm>
          <a:prstGeom prst="rect">
            <a:avLst/>
          </a:prstGeom>
          <a:noFill/>
        </p:spPr>
        <p:txBody>
          <a:bodyPr wrap="none">
            <a:spAutoFit/>
          </a:bodyPr>
          <a:lstStyle/>
          <a:p>
            <a:r>
              <a:rPr sz="1300">
                <a:solidFill>
                  <a:srgbClr val="23282D"/>
                </a:solidFill>
              </a:rPr>
              <a:t>Dashboards, notifications, reports</a:t>
            </a:r>
          </a:p>
        </p:txBody>
      </p:sp>
      <p:sp>
        <p:nvSpPr>
          <p:cNvPr id="30" name="Rounded Rectangle 29"/>
          <p:cNvSpPr/>
          <p:nvPr/>
        </p:nvSpPr>
        <p:spPr>
          <a:xfrm>
            <a:off x="4572000" y="2651760"/>
            <a:ext cx="3063240" cy="658368"/>
          </a:xfrm>
          <a:prstGeom prst="round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CHAMAPLUS</a:t>
            </a:r>
          </a:p>
        </p:txBody>
      </p:sp>
      <p:sp>
        <p:nvSpPr>
          <p:cNvPr id="31" name="TextBox 30"/>
          <p:cNvSpPr txBox="1"/>
          <p:nvPr/>
        </p:nvSpPr>
        <p:spPr>
          <a:xfrm>
            <a:off x="594360" y="6473952"/>
            <a:ext cx="10789920" cy="201168"/>
          </a:xfrm>
          <a:prstGeom prst="rect">
            <a:avLst/>
          </a:prstGeom>
          <a:noFill/>
        </p:spPr>
        <p:txBody>
          <a:bodyPr wrap="none">
            <a:spAutoFit/>
          </a:bodyPr>
          <a:lstStyle/>
          <a:p>
            <a:pPr algn="r"/>
            <a:r>
              <a:rPr sz="800">
                <a:solidFill>
                  <a:srgbClr val="69737D"/>
                </a:solidFill>
              </a:rPr>
              <a:t>ChamaPlus | Mount Kenya University | 2025/2026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972800" cy="502920"/>
          </a:xfrm>
          <a:prstGeom prst="rect">
            <a:avLst/>
          </a:prstGeom>
          <a:noFill/>
        </p:spPr>
        <p:txBody>
          <a:bodyPr wrap="none">
            <a:spAutoFit/>
          </a:bodyPr>
          <a:lstStyle/>
          <a:p>
            <a:r>
              <a:rPr sz="2700" b="1">
                <a:solidFill>
                  <a:srgbClr val="192D4B"/>
                </a:solidFill>
              </a:rPr>
              <a:t>5. The Credit-Aware Element</a:t>
            </a:r>
          </a:p>
        </p:txBody>
      </p:sp>
      <p:sp>
        <p:nvSpPr>
          <p:cNvPr id="5" name="TextBox 4"/>
          <p:cNvSpPr txBox="1"/>
          <p:nvPr/>
        </p:nvSpPr>
        <p:spPr>
          <a:xfrm>
            <a:off x="612648" y="841248"/>
            <a:ext cx="10789920" cy="365760"/>
          </a:xfrm>
          <a:prstGeom prst="rect">
            <a:avLst/>
          </a:prstGeom>
          <a:noFill/>
        </p:spPr>
        <p:txBody>
          <a:bodyPr wrap="none">
            <a:spAutoFit/>
          </a:bodyPr>
          <a:lstStyle/>
          <a:p>
            <a:r>
              <a:rPr sz="1200">
                <a:solidFill>
                  <a:srgbClr val="69737D"/>
                </a:solidFill>
              </a:rPr>
              <a:t>Decision support — not automated lending</a:t>
            </a:r>
          </a:p>
        </p:txBody>
      </p:sp>
      <p:sp>
        <p:nvSpPr>
          <p:cNvPr id="6" name="Rounded Rectangle 5"/>
          <p:cNvSpPr/>
          <p:nvPr/>
        </p:nvSpPr>
        <p:spPr>
          <a:xfrm>
            <a:off x="731520" y="1417320"/>
            <a:ext cx="2468880" cy="16459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73152" cy="164592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581912"/>
            <a:ext cx="2103120" cy="411480"/>
          </a:xfrm>
          <a:prstGeom prst="rect">
            <a:avLst/>
          </a:prstGeom>
          <a:noFill/>
        </p:spPr>
        <p:txBody>
          <a:bodyPr wrap="none">
            <a:spAutoFit/>
          </a:bodyPr>
          <a:lstStyle/>
          <a:p>
            <a:r>
              <a:rPr b="1" sz="1700">
                <a:solidFill>
                  <a:srgbClr val="192D4B"/>
                </a:solidFill>
              </a:rPr>
              <a:t>Contribution consistency</a:t>
            </a:r>
          </a:p>
        </p:txBody>
      </p:sp>
      <p:sp>
        <p:nvSpPr>
          <p:cNvPr id="9" name="TextBox 8"/>
          <p:cNvSpPr txBox="1"/>
          <p:nvPr/>
        </p:nvSpPr>
        <p:spPr>
          <a:xfrm>
            <a:off x="932688" y="2057400"/>
            <a:ext cx="2103120" cy="868680"/>
          </a:xfrm>
          <a:prstGeom prst="rect">
            <a:avLst/>
          </a:prstGeom>
          <a:noFill/>
        </p:spPr>
        <p:txBody>
          <a:bodyPr wrap="none">
            <a:spAutoFit/>
          </a:bodyPr>
          <a:lstStyle/>
          <a:p>
            <a:r>
              <a:rPr sz="1300">
                <a:solidFill>
                  <a:srgbClr val="23282D"/>
                </a:solidFill>
              </a:rPr>
              <a:t>35%</a:t>
            </a:r>
          </a:p>
        </p:txBody>
      </p:sp>
      <p:sp>
        <p:nvSpPr>
          <p:cNvPr id="10" name="Rounded Rectangle 9"/>
          <p:cNvSpPr/>
          <p:nvPr/>
        </p:nvSpPr>
        <p:spPr>
          <a:xfrm>
            <a:off x="3520439" y="1417320"/>
            <a:ext cx="2468880" cy="16459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39" y="1417320"/>
            <a:ext cx="73152" cy="164592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7" y="1581912"/>
            <a:ext cx="2103120" cy="411480"/>
          </a:xfrm>
          <a:prstGeom prst="rect">
            <a:avLst/>
          </a:prstGeom>
          <a:noFill/>
        </p:spPr>
        <p:txBody>
          <a:bodyPr wrap="none">
            <a:spAutoFit/>
          </a:bodyPr>
          <a:lstStyle/>
          <a:p>
            <a:r>
              <a:rPr b="1" sz="1700">
                <a:solidFill>
                  <a:srgbClr val="192D4B"/>
                </a:solidFill>
              </a:rPr>
              <a:t>Repayment history</a:t>
            </a:r>
          </a:p>
        </p:txBody>
      </p:sp>
      <p:sp>
        <p:nvSpPr>
          <p:cNvPr id="13" name="TextBox 12"/>
          <p:cNvSpPr txBox="1"/>
          <p:nvPr/>
        </p:nvSpPr>
        <p:spPr>
          <a:xfrm>
            <a:off x="3721607" y="2057400"/>
            <a:ext cx="2103120" cy="868680"/>
          </a:xfrm>
          <a:prstGeom prst="rect">
            <a:avLst/>
          </a:prstGeom>
          <a:noFill/>
        </p:spPr>
        <p:txBody>
          <a:bodyPr wrap="none">
            <a:spAutoFit/>
          </a:bodyPr>
          <a:lstStyle/>
          <a:p>
            <a:r>
              <a:rPr sz="1300">
                <a:solidFill>
                  <a:srgbClr val="23282D"/>
                </a:solidFill>
              </a:rPr>
              <a:t>35%</a:t>
            </a:r>
          </a:p>
        </p:txBody>
      </p:sp>
      <p:sp>
        <p:nvSpPr>
          <p:cNvPr id="14" name="Rounded Rectangle 13"/>
          <p:cNvSpPr/>
          <p:nvPr/>
        </p:nvSpPr>
        <p:spPr>
          <a:xfrm>
            <a:off x="6309359" y="1417320"/>
            <a:ext cx="2468880" cy="16459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59" y="1417320"/>
            <a:ext cx="73152" cy="164592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7" y="1581912"/>
            <a:ext cx="2103120" cy="411480"/>
          </a:xfrm>
          <a:prstGeom prst="rect">
            <a:avLst/>
          </a:prstGeom>
          <a:noFill/>
        </p:spPr>
        <p:txBody>
          <a:bodyPr wrap="none">
            <a:spAutoFit/>
          </a:bodyPr>
          <a:lstStyle/>
          <a:p>
            <a:r>
              <a:rPr b="1" sz="1700">
                <a:solidFill>
                  <a:srgbClr val="192D4B"/>
                </a:solidFill>
              </a:rPr>
              <a:t>Attendance</a:t>
            </a:r>
          </a:p>
        </p:txBody>
      </p:sp>
      <p:sp>
        <p:nvSpPr>
          <p:cNvPr id="17" name="TextBox 16"/>
          <p:cNvSpPr txBox="1"/>
          <p:nvPr/>
        </p:nvSpPr>
        <p:spPr>
          <a:xfrm>
            <a:off x="6510527" y="2057400"/>
            <a:ext cx="2103120" cy="868680"/>
          </a:xfrm>
          <a:prstGeom prst="rect">
            <a:avLst/>
          </a:prstGeom>
          <a:noFill/>
        </p:spPr>
        <p:txBody>
          <a:bodyPr wrap="none">
            <a:spAutoFit/>
          </a:bodyPr>
          <a:lstStyle/>
          <a:p>
            <a:r>
              <a:rPr sz="1300">
                <a:solidFill>
                  <a:srgbClr val="23282D"/>
                </a:solidFill>
              </a:rPr>
              <a:t>15%</a:t>
            </a:r>
          </a:p>
        </p:txBody>
      </p:sp>
      <p:sp>
        <p:nvSpPr>
          <p:cNvPr id="18" name="Rounded Rectangle 17"/>
          <p:cNvSpPr/>
          <p:nvPr/>
        </p:nvSpPr>
        <p:spPr>
          <a:xfrm>
            <a:off x="9098280" y="1417320"/>
            <a:ext cx="2468880" cy="16459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98280" y="1417320"/>
            <a:ext cx="73152" cy="164592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99448" y="1581912"/>
            <a:ext cx="2103120" cy="411480"/>
          </a:xfrm>
          <a:prstGeom prst="rect">
            <a:avLst/>
          </a:prstGeom>
          <a:noFill/>
        </p:spPr>
        <p:txBody>
          <a:bodyPr wrap="none">
            <a:spAutoFit/>
          </a:bodyPr>
          <a:lstStyle/>
          <a:p>
            <a:r>
              <a:rPr b="1" sz="1700">
                <a:solidFill>
                  <a:srgbClr val="192D4B"/>
                </a:solidFill>
              </a:rPr>
              <a:t>Membership duration</a:t>
            </a:r>
          </a:p>
        </p:txBody>
      </p:sp>
      <p:sp>
        <p:nvSpPr>
          <p:cNvPr id="21" name="TextBox 20"/>
          <p:cNvSpPr txBox="1"/>
          <p:nvPr/>
        </p:nvSpPr>
        <p:spPr>
          <a:xfrm>
            <a:off x="9299448" y="2057400"/>
            <a:ext cx="2103120" cy="868680"/>
          </a:xfrm>
          <a:prstGeom prst="rect">
            <a:avLst/>
          </a:prstGeom>
          <a:noFill/>
        </p:spPr>
        <p:txBody>
          <a:bodyPr wrap="none">
            <a:spAutoFit/>
          </a:bodyPr>
          <a:lstStyle/>
          <a:p>
            <a:r>
              <a:rPr sz="1300">
                <a:solidFill>
                  <a:srgbClr val="23282D"/>
                </a:solidFill>
              </a:rPr>
              <a:t>15%</a:t>
            </a:r>
          </a:p>
        </p:txBody>
      </p:sp>
      <p:sp>
        <p:nvSpPr>
          <p:cNvPr id="22" name="Rounded Rectangle 21"/>
          <p:cNvSpPr/>
          <p:nvPr/>
        </p:nvSpPr>
        <p:spPr>
          <a:xfrm>
            <a:off x="868680" y="3840480"/>
            <a:ext cx="1737360" cy="731520"/>
          </a:xfrm>
          <a:prstGeom prst="roundRect">
            <a:avLst/>
          </a:prstGeom>
          <a:solidFill>
            <a:srgbClr val="F2F5F8"/>
          </a:solidFill>
          <a:ln>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3282D"/>
                </a:solidFill>
              </a:rPr>
              <a:t>Member activity</a:t>
            </a:r>
          </a:p>
        </p:txBody>
      </p:sp>
      <p:sp>
        <p:nvSpPr>
          <p:cNvPr id="23" name="Chevron 22"/>
          <p:cNvSpPr/>
          <p:nvPr/>
        </p:nvSpPr>
        <p:spPr>
          <a:xfrm>
            <a:off x="2624328" y="4041648"/>
            <a:ext cx="347472" cy="329184"/>
          </a:xfrm>
          <a:prstGeom prst="chevron">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108960" y="3840480"/>
            <a:ext cx="1737360" cy="731520"/>
          </a:xfrm>
          <a:prstGeom prst="roundRect">
            <a:avLst/>
          </a:prstGeom>
          <a:solidFill>
            <a:srgbClr val="F2F5F8"/>
          </a:solidFill>
          <a:ln>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3282D"/>
                </a:solidFill>
              </a:rPr>
              <a:t>Scoring model</a:t>
            </a:r>
          </a:p>
        </p:txBody>
      </p:sp>
      <p:sp>
        <p:nvSpPr>
          <p:cNvPr id="25" name="Chevron 24"/>
          <p:cNvSpPr/>
          <p:nvPr/>
        </p:nvSpPr>
        <p:spPr>
          <a:xfrm>
            <a:off x="4864608" y="4041648"/>
            <a:ext cx="347472" cy="329184"/>
          </a:xfrm>
          <a:prstGeom prst="chevron">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49240" y="3840480"/>
            <a:ext cx="1737360" cy="731520"/>
          </a:xfrm>
          <a:prstGeom prst="roundRect">
            <a:avLst/>
          </a:prstGeom>
          <a:solidFill>
            <a:srgbClr val="F2F5F8"/>
          </a:solidFill>
          <a:ln>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3282D"/>
                </a:solidFill>
              </a:rPr>
              <a:t>Advisory score</a:t>
            </a:r>
          </a:p>
        </p:txBody>
      </p:sp>
      <p:sp>
        <p:nvSpPr>
          <p:cNvPr id="27" name="Chevron 26"/>
          <p:cNvSpPr/>
          <p:nvPr/>
        </p:nvSpPr>
        <p:spPr>
          <a:xfrm>
            <a:off x="7104888" y="4041648"/>
            <a:ext cx="347472" cy="329184"/>
          </a:xfrm>
          <a:prstGeom prst="chevron">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589520" y="3840480"/>
            <a:ext cx="1737360" cy="731520"/>
          </a:xfrm>
          <a:prstGeom prst="roundRect">
            <a:avLst/>
          </a:prstGeom>
          <a:solidFill>
            <a:srgbClr val="F2F5F8"/>
          </a:solidFill>
          <a:ln>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3282D"/>
                </a:solidFill>
              </a:rPr>
              <a:t>Committee review</a:t>
            </a:r>
          </a:p>
        </p:txBody>
      </p:sp>
      <p:sp>
        <p:nvSpPr>
          <p:cNvPr id="29" name="Chevron 28"/>
          <p:cNvSpPr/>
          <p:nvPr/>
        </p:nvSpPr>
        <p:spPr>
          <a:xfrm>
            <a:off x="9345168" y="4041648"/>
            <a:ext cx="347472" cy="329184"/>
          </a:xfrm>
          <a:prstGeom prst="chevron">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829800" y="3840480"/>
            <a:ext cx="1737360" cy="731520"/>
          </a:xfrm>
          <a:prstGeom prst="roundRect">
            <a:avLst/>
          </a:prstGeom>
          <a:solidFill>
            <a:srgbClr val="F2F5F8"/>
          </a:solidFill>
          <a:ln>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3282D"/>
                </a:solidFill>
              </a:rPr>
              <a:t>Decision</a:t>
            </a:r>
          </a:p>
        </p:txBody>
      </p:sp>
      <p:sp>
        <p:nvSpPr>
          <p:cNvPr id="31" name="TextBox 30"/>
          <p:cNvSpPr txBox="1"/>
          <p:nvPr/>
        </p:nvSpPr>
        <p:spPr>
          <a:xfrm>
            <a:off x="914400" y="4983480"/>
            <a:ext cx="10241280" cy="640080"/>
          </a:xfrm>
          <a:prstGeom prst="rect">
            <a:avLst/>
          </a:prstGeom>
          <a:noFill/>
        </p:spPr>
        <p:txBody>
          <a:bodyPr wrap="none">
            <a:spAutoFit/>
          </a:bodyPr>
          <a:lstStyle/>
          <a:p>
            <a:pPr algn="ctr"/>
            <a:r>
              <a:rPr sz="1700" b="1">
                <a:solidFill>
                  <a:srgbClr val="192D4B"/>
                </a:solidFill>
              </a:rPr>
              <a:t>Human authority is retained: the score informs the committee; it does not approve or reject a loan automatically.</a:t>
            </a:r>
          </a:p>
        </p:txBody>
      </p:sp>
      <p:sp>
        <p:nvSpPr>
          <p:cNvPr id="32" name="TextBox 31"/>
          <p:cNvSpPr txBox="1"/>
          <p:nvPr/>
        </p:nvSpPr>
        <p:spPr>
          <a:xfrm>
            <a:off x="594360" y="6473952"/>
            <a:ext cx="10789920" cy="201168"/>
          </a:xfrm>
          <a:prstGeom prst="rect">
            <a:avLst/>
          </a:prstGeom>
          <a:noFill/>
        </p:spPr>
        <p:txBody>
          <a:bodyPr wrap="none">
            <a:spAutoFit/>
          </a:bodyPr>
          <a:lstStyle/>
          <a:p>
            <a:pPr algn="r"/>
            <a:r>
              <a:rPr sz="800">
                <a:solidFill>
                  <a:srgbClr val="69737D"/>
                </a:solidFill>
              </a:rPr>
              <a:t>ChamaPlus | Mount Kenya University | 2025/2026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972800" cy="502920"/>
          </a:xfrm>
          <a:prstGeom prst="rect">
            <a:avLst/>
          </a:prstGeom>
          <a:noFill/>
        </p:spPr>
        <p:txBody>
          <a:bodyPr wrap="none">
            <a:spAutoFit/>
          </a:bodyPr>
          <a:lstStyle/>
          <a:p>
            <a:r>
              <a:rPr sz="2700" b="1">
                <a:solidFill>
                  <a:srgbClr val="192D4B"/>
                </a:solidFill>
              </a:rPr>
              <a:t>6. System Architecture</a:t>
            </a:r>
          </a:p>
        </p:txBody>
      </p:sp>
      <p:sp>
        <p:nvSpPr>
          <p:cNvPr id="5" name="TextBox 4"/>
          <p:cNvSpPr txBox="1"/>
          <p:nvPr/>
        </p:nvSpPr>
        <p:spPr>
          <a:xfrm>
            <a:off x="612648" y="841248"/>
            <a:ext cx="10789920" cy="365760"/>
          </a:xfrm>
          <a:prstGeom prst="rect">
            <a:avLst/>
          </a:prstGeom>
          <a:noFill/>
        </p:spPr>
        <p:txBody>
          <a:bodyPr wrap="none">
            <a:spAutoFit/>
          </a:bodyPr>
          <a:lstStyle/>
          <a:p>
            <a:r>
              <a:rPr sz="1200">
                <a:solidFill>
                  <a:srgbClr val="69737D"/>
                </a:solidFill>
              </a:rPr>
              <a:t>How the mobile platform is connected to the backend</a:t>
            </a:r>
          </a:p>
        </p:txBody>
      </p:sp>
      <p:sp>
        <p:nvSpPr>
          <p:cNvPr id="6" name="Rounded Rectangle 5"/>
          <p:cNvSpPr/>
          <p:nvPr/>
        </p:nvSpPr>
        <p:spPr>
          <a:xfrm>
            <a:off x="1828800" y="1325880"/>
            <a:ext cx="8503920" cy="1005840"/>
          </a:xfrm>
          <a:prstGeom prst="roundRect">
            <a:avLst/>
          </a:prstGeom>
          <a:solidFill>
            <a:srgbClr val="E5EDF7"/>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03120" y="1435607"/>
            <a:ext cx="2468880" cy="731520"/>
          </a:xfrm>
          <a:prstGeom prst="rect">
            <a:avLst/>
          </a:prstGeom>
          <a:noFill/>
        </p:spPr>
        <p:txBody>
          <a:bodyPr wrap="none">
            <a:spAutoFit/>
          </a:bodyPr>
          <a:lstStyle/>
          <a:p>
            <a:r>
              <a:rPr b="1" sz="1600">
                <a:solidFill>
                  <a:srgbClr val="192D4B"/>
                </a:solidFill>
              </a:rPr>
              <a:t>Presentation / Mobile</a:t>
            </a:r>
          </a:p>
        </p:txBody>
      </p:sp>
      <p:sp>
        <p:nvSpPr>
          <p:cNvPr id="8" name="TextBox 7"/>
          <p:cNvSpPr txBox="1"/>
          <p:nvPr/>
        </p:nvSpPr>
        <p:spPr>
          <a:xfrm>
            <a:off x="4343400" y="1435607"/>
            <a:ext cx="5669280" cy="731520"/>
          </a:xfrm>
          <a:prstGeom prst="rect">
            <a:avLst/>
          </a:prstGeom>
          <a:noFill/>
        </p:spPr>
        <p:txBody>
          <a:bodyPr wrap="none">
            <a:spAutoFit/>
          </a:bodyPr>
          <a:lstStyle/>
          <a:p>
            <a:r>
              <a:rPr sz="1300">
                <a:solidFill>
                  <a:srgbClr val="23282D"/>
                </a:solidFill>
              </a:rPr>
              <a:t>Flutter + Dart
Feature-based modules • Riverpod • GoRouter</a:t>
            </a:r>
          </a:p>
        </p:txBody>
      </p:sp>
      <p:sp>
        <p:nvSpPr>
          <p:cNvPr id="9" name="Down Arrow 8"/>
          <p:cNvSpPr/>
          <p:nvPr/>
        </p:nvSpPr>
        <p:spPr>
          <a:xfrm>
            <a:off x="5715000" y="2331720"/>
            <a:ext cx="731520" cy="347472"/>
          </a:xfrm>
          <a:prstGeom prst="downArrow">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828800" y="2743200"/>
            <a:ext cx="8503920" cy="1005840"/>
          </a:xfrm>
          <a:prstGeom prst="roundRect">
            <a:avLst/>
          </a:prstGeom>
          <a:solidFill>
            <a:srgbClr val="E6F2F2"/>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2852928"/>
            <a:ext cx="2468880" cy="731520"/>
          </a:xfrm>
          <a:prstGeom prst="rect">
            <a:avLst/>
          </a:prstGeom>
          <a:noFill/>
        </p:spPr>
        <p:txBody>
          <a:bodyPr wrap="none">
            <a:spAutoFit/>
          </a:bodyPr>
          <a:lstStyle/>
          <a:p>
            <a:r>
              <a:rPr b="1" sz="1600">
                <a:solidFill>
                  <a:srgbClr val="192D4B"/>
                </a:solidFill>
              </a:rPr>
              <a:t>API / Application</a:t>
            </a:r>
          </a:p>
        </p:txBody>
      </p:sp>
      <p:sp>
        <p:nvSpPr>
          <p:cNvPr id="12" name="TextBox 11"/>
          <p:cNvSpPr txBox="1"/>
          <p:nvPr/>
        </p:nvSpPr>
        <p:spPr>
          <a:xfrm>
            <a:off x="4343400" y="2852928"/>
            <a:ext cx="5669280" cy="731520"/>
          </a:xfrm>
          <a:prstGeom prst="rect">
            <a:avLst/>
          </a:prstGeom>
          <a:noFill/>
        </p:spPr>
        <p:txBody>
          <a:bodyPr wrap="none">
            <a:spAutoFit/>
          </a:bodyPr>
          <a:lstStyle/>
          <a:p>
            <a:r>
              <a:rPr sz="1300">
                <a:solidFill>
                  <a:srgbClr val="23282D"/>
                </a:solidFill>
              </a:rPr>
              <a:t>Django + Django REST Framework
Authentication • permissions • business services</a:t>
            </a:r>
          </a:p>
        </p:txBody>
      </p:sp>
      <p:sp>
        <p:nvSpPr>
          <p:cNvPr id="13" name="Down Arrow 12"/>
          <p:cNvSpPr/>
          <p:nvPr/>
        </p:nvSpPr>
        <p:spPr>
          <a:xfrm>
            <a:off x="5715000" y="3749039"/>
            <a:ext cx="731520" cy="347472"/>
          </a:xfrm>
          <a:prstGeom prst="downArrow">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28800" y="4160520"/>
            <a:ext cx="8503920" cy="1005840"/>
          </a:xfrm>
          <a:prstGeom prst="roundRect">
            <a:avLst/>
          </a:prstGeom>
          <a:solidFill>
            <a:srgbClr val="ECF0F5"/>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4270248"/>
            <a:ext cx="2468880" cy="731520"/>
          </a:xfrm>
          <a:prstGeom prst="rect">
            <a:avLst/>
          </a:prstGeom>
          <a:noFill/>
        </p:spPr>
        <p:txBody>
          <a:bodyPr wrap="none">
            <a:spAutoFit/>
          </a:bodyPr>
          <a:lstStyle/>
          <a:p>
            <a:r>
              <a:rPr b="1" sz="1600">
                <a:solidFill>
                  <a:srgbClr val="192D4B"/>
                </a:solidFill>
              </a:rPr>
              <a:t>Data</a:t>
            </a:r>
          </a:p>
        </p:txBody>
      </p:sp>
      <p:sp>
        <p:nvSpPr>
          <p:cNvPr id="16" name="TextBox 15"/>
          <p:cNvSpPr txBox="1"/>
          <p:nvPr/>
        </p:nvSpPr>
        <p:spPr>
          <a:xfrm>
            <a:off x="4343400" y="4270248"/>
            <a:ext cx="5669280" cy="731520"/>
          </a:xfrm>
          <a:prstGeom prst="rect">
            <a:avLst/>
          </a:prstGeom>
          <a:noFill/>
        </p:spPr>
        <p:txBody>
          <a:bodyPr wrap="none">
            <a:spAutoFit/>
          </a:bodyPr>
          <a:lstStyle/>
          <a:p>
            <a:r>
              <a:rPr sz="1300">
                <a:solidFill>
                  <a:srgbClr val="23282D"/>
                </a:solidFill>
              </a:rPr>
              <a:t>MySQL relational database
Users • memberships • contributions • loans • governance • reports</a:t>
            </a:r>
          </a:p>
        </p:txBody>
      </p:sp>
      <p:sp>
        <p:nvSpPr>
          <p:cNvPr id="17" name="TextBox 16"/>
          <p:cNvSpPr txBox="1"/>
          <p:nvPr/>
        </p:nvSpPr>
        <p:spPr>
          <a:xfrm>
            <a:off x="1965960" y="5623560"/>
            <a:ext cx="8229600" cy="411480"/>
          </a:xfrm>
          <a:prstGeom prst="rect">
            <a:avLst/>
          </a:prstGeom>
          <a:noFill/>
        </p:spPr>
        <p:txBody>
          <a:bodyPr wrap="none">
            <a:spAutoFit/>
          </a:bodyPr>
          <a:lstStyle/>
          <a:p>
            <a:pPr algn="ctr"/>
            <a:r>
              <a:rPr sz="1400" b="1">
                <a:solidFill>
                  <a:srgbClr val="287878"/>
                </a:solidFill>
              </a:rPr>
              <a:t>Implemented backend: 12 Django apps • 17 domain tables • 78 business endpoints</a:t>
            </a:r>
          </a:p>
        </p:txBody>
      </p:sp>
      <p:sp>
        <p:nvSpPr>
          <p:cNvPr id="18" name="TextBox 17"/>
          <p:cNvSpPr txBox="1"/>
          <p:nvPr/>
        </p:nvSpPr>
        <p:spPr>
          <a:xfrm>
            <a:off x="594360" y="6473952"/>
            <a:ext cx="10789920" cy="201168"/>
          </a:xfrm>
          <a:prstGeom prst="rect">
            <a:avLst/>
          </a:prstGeom>
          <a:noFill/>
        </p:spPr>
        <p:txBody>
          <a:bodyPr wrap="none">
            <a:spAutoFit/>
          </a:bodyPr>
          <a:lstStyle/>
          <a:p>
            <a:pPr algn="r"/>
            <a:r>
              <a:rPr sz="800">
                <a:solidFill>
                  <a:srgbClr val="69737D"/>
                </a:solidFill>
              </a:rPr>
              <a:t>ChamaPlus | Mount Kenya University | 2025/2026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972800" cy="502920"/>
          </a:xfrm>
          <a:prstGeom prst="rect">
            <a:avLst/>
          </a:prstGeom>
          <a:noFill/>
        </p:spPr>
        <p:txBody>
          <a:bodyPr wrap="none">
            <a:spAutoFit/>
          </a:bodyPr>
          <a:lstStyle/>
          <a:p>
            <a:r>
              <a:rPr sz="2700" b="1">
                <a:solidFill>
                  <a:srgbClr val="192D4B"/>
                </a:solidFill>
              </a:rPr>
              <a:t>7. Methodology and Development Approach</a:t>
            </a:r>
          </a:p>
        </p:txBody>
      </p:sp>
      <p:sp>
        <p:nvSpPr>
          <p:cNvPr id="5" name="TextBox 4"/>
          <p:cNvSpPr txBox="1"/>
          <p:nvPr/>
        </p:nvSpPr>
        <p:spPr>
          <a:xfrm>
            <a:off x="612648" y="841248"/>
            <a:ext cx="10789920" cy="365760"/>
          </a:xfrm>
          <a:prstGeom prst="rect">
            <a:avLst/>
          </a:prstGeom>
          <a:noFill/>
        </p:spPr>
        <p:txBody>
          <a:bodyPr wrap="none">
            <a:spAutoFit/>
          </a:bodyPr>
          <a:lstStyle/>
          <a:p>
            <a:r>
              <a:rPr sz="1200">
                <a:solidFill>
                  <a:srgbClr val="69737D"/>
                </a:solidFill>
              </a:rPr>
              <a:t>Research approach + software development approach</a:t>
            </a:r>
          </a:p>
        </p:txBody>
      </p:sp>
      <p:sp>
        <p:nvSpPr>
          <p:cNvPr id="6" name="Rounded Rectangle 5"/>
          <p:cNvSpPr/>
          <p:nvPr/>
        </p:nvSpPr>
        <p:spPr>
          <a:xfrm>
            <a:off x="731520" y="1325880"/>
            <a:ext cx="5212080" cy="35661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25880"/>
            <a:ext cx="73152" cy="356616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490472"/>
            <a:ext cx="4846320" cy="411480"/>
          </a:xfrm>
          <a:prstGeom prst="rect">
            <a:avLst/>
          </a:prstGeom>
          <a:noFill/>
        </p:spPr>
        <p:txBody>
          <a:bodyPr wrap="none">
            <a:spAutoFit/>
          </a:bodyPr>
          <a:lstStyle/>
          <a:p>
            <a:r>
              <a:rPr b="1" sz="1700">
                <a:solidFill>
                  <a:srgbClr val="192D4B"/>
                </a:solidFill>
              </a:rPr>
              <a:t>Research approach</a:t>
            </a:r>
          </a:p>
        </p:txBody>
      </p:sp>
      <p:sp>
        <p:nvSpPr>
          <p:cNvPr id="9" name="TextBox 8"/>
          <p:cNvSpPr txBox="1"/>
          <p:nvPr/>
        </p:nvSpPr>
        <p:spPr>
          <a:xfrm>
            <a:off x="932688" y="1965960"/>
            <a:ext cx="4846320" cy="2788920"/>
          </a:xfrm>
          <a:prstGeom prst="rect">
            <a:avLst/>
          </a:prstGeom>
          <a:noFill/>
        </p:spPr>
        <p:txBody>
          <a:bodyPr wrap="none">
            <a:spAutoFit/>
          </a:bodyPr>
          <a:lstStyle/>
          <a:p>
            <a:r>
              <a:rPr sz="1300">
                <a:solidFill>
                  <a:srgbClr val="23282D"/>
                </a:solidFill>
              </a:rPr>
              <a:t>Applied design-and-development research
• Problem identification
• Requirements analysis
• Artefact design and development
• Evaluation of the prototype</a:t>
            </a:r>
          </a:p>
        </p:txBody>
      </p:sp>
      <p:sp>
        <p:nvSpPr>
          <p:cNvPr id="10" name="Rounded Rectangle 9"/>
          <p:cNvSpPr/>
          <p:nvPr/>
        </p:nvSpPr>
        <p:spPr>
          <a:xfrm>
            <a:off x="6263640" y="1325880"/>
            <a:ext cx="5212080" cy="35661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325880"/>
            <a:ext cx="73152" cy="356616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490472"/>
            <a:ext cx="4846320" cy="411480"/>
          </a:xfrm>
          <a:prstGeom prst="rect">
            <a:avLst/>
          </a:prstGeom>
          <a:noFill/>
        </p:spPr>
        <p:txBody>
          <a:bodyPr wrap="none">
            <a:spAutoFit/>
          </a:bodyPr>
          <a:lstStyle/>
          <a:p>
            <a:r>
              <a:rPr b="1" sz="1700">
                <a:solidFill>
                  <a:srgbClr val="192D4B"/>
                </a:solidFill>
              </a:rPr>
              <a:t>Software development</a:t>
            </a:r>
          </a:p>
        </p:txBody>
      </p:sp>
      <p:sp>
        <p:nvSpPr>
          <p:cNvPr id="13" name="TextBox 12"/>
          <p:cNvSpPr txBox="1"/>
          <p:nvPr/>
        </p:nvSpPr>
        <p:spPr>
          <a:xfrm>
            <a:off x="6464807" y="1965960"/>
            <a:ext cx="4846320" cy="2788920"/>
          </a:xfrm>
          <a:prstGeom prst="rect">
            <a:avLst/>
          </a:prstGeom>
          <a:noFill/>
        </p:spPr>
        <p:txBody>
          <a:bodyPr wrap="none">
            <a:spAutoFit/>
          </a:bodyPr>
          <a:lstStyle/>
          <a:p>
            <a:r>
              <a:rPr sz="1300">
                <a:solidFill>
                  <a:srgbClr val="23282D"/>
                </a:solidFill>
              </a:rPr>
              <a:t>Agile iterative and incremental development
Requirements → Design → Implement → Test → Refine → Next increment
Modules were developed progressively with continuous testing.</a:t>
            </a:r>
          </a:p>
        </p:txBody>
      </p:sp>
      <p:sp>
        <p:nvSpPr>
          <p:cNvPr id="14" name="TextBox 13"/>
          <p:cNvSpPr txBox="1"/>
          <p:nvPr/>
        </p:nvSpPr>
        <p:spPr>
          <a:xfrm>
            <a:off x="594360" y="6473952"/>
            <a:ext cx="10789920" cy="201168"/>
          </a:xfrm>
          <a:prstGeom prst="rect">
            <a:avLst/>
          </a:prstGeom>
          <a:noFill/>
        </p:spPr>
        <p:txBody>
          <a:bodyPr wrap="none">
            <a:spAutoFit/>
          </a:bodyPr>
          <a:lstStyle/>
          <a:p>
            <a:pPr algn="r"/>
            <a:r>
              <a:rPr sz="800">
                <a:solidFill>
                  <a:srgbClr val="69737D"/>
                </a:solidFill>
              </a:rPr>
              <a:t>ChamaPlus | Mount Kenya University | 2025/2026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972800" cy="502920"/>
          </a:xfrm>
          <a:prstGeom prst="rect">
            <a:avLst/>
          </a:prstGeom>
          <a:noFill/>
        </p:spPr>
        <p:txBody>
          <a:bodyPr wrap="none">
            <a:spAutoFit/>
          </a:bodyPr>
          <a:lstStyle/>
          <a:p>
            <a:r>
              <a:rPr sz="2700" b="1">
                <a:solidFill>
                  <a:srgbClr val="192D4B"/>
                </a:solidFill>
              </a:rPr>
              <a:t>8. What Was Actually Implemented</a:t>
            </a:r>
          </a:p>
        </p:txBody>
      </p:sp>
      <p:sp>
        <p:nvSpPr>
          <p:cNvPr id="5" name="TextBox 4"/>
          <p:cNvSpPr txBox="1"/>
          <p:nvPr/>
        </p:nvSpPr>
        <p:spPr>
          <a:xfrm>
            <a:off x="612648" y="841248"/>
            <a:ext cx="10789920" cy="365760"/>
          </a:xfrm>
          <a:prstGeom prst="rect">
            <a:avLst/>
          </a:prstGeom>
          <a:noFill/>
        </p:spPr>
        <p:txBody>
          <a:bodyPr wrap="none">
            <a:spAutoFit/>
          </a:bodyPr>
          <a:lstStyle/>
          <a:p>
            <a:r>
              <a:rPr sz="1200">
                <a:solidFill>
                  <a:srgbClr val="69737D"/>
                </a:solidFill>
              </a:rPr>
              <a:t>Prototype scope</a:t>
            </a:r>
          </a:p>
        </p:txBody>
      </p:sp>
      <p:sp>
        <p:nvSpPr>
          <p:cNvPr id="6" name="Rounded Rectangle 5"/>
          <p:cNvSpPr/>
          <p:nvPr/>
        </p:nvSpPr>
        <p:spPr>
          <a:xfrm>
            <a:off x="685800" y="1325880"/>
            <a:ext cx="5166360" cy="182880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325880"/>
            <a:ext cx="73152" cy="182880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490472"/>
            <a:ext cx="4800600" cy="411480"/>
          </a:xfrm>
          <a:prstGeom prst="rect">
            <a:avLst/>
          </a:prstGeom>
          <a:noFill/>
        </p:spPr>
        <p:txBody>
          <a:bodyPr wrap="none">
            <a:spAutoFit/>
          </a:bodyPr>
          <a:lstStyle/>
          <a:p>
            <a:r>
              <a:rPr b="1" sz="1700">
                <a:solidFill>
                  <a:srgbClr val="192D4B"/>
                </a:solidFill>
              </a:rPr>
              <a:t>Authentication &amp; onboarding</a:t>
            </a:r>
          </a:p>
        </p:txBody>
      </p:sp>
      <p:sp>
        <p:nvSpPr>
          <p:cNvPr id="9" name="TextBox 8"/>
          <p:cNvSpPr txBox="1"/>
          <p:nvPr/>
        </p:nvSpPr>
        <p:spPr>
          <a:xfrm>
            <a:off x="886968" y="1965960"/>
            <a:ext cx="4800600" cy="1051560"/>
          </a:xfrm>
          <a:prstGeom prst="rect">
            <a:avLst/>
          </a:prstGeom>
          <a:noFill/>
        </p:spPr>
        <p:txBody>
          <a:bodyPr wrap="none">
            <a:spAutoFit/>
          </a:bodyPr>
          <a:lstStyle/>
          <a:p>
            <a:r>
              <a:rPr sz="1300">
                <a:solidFill>
                  <a:srgbClr val="23282D"/>
                </a:solidFill>
              </a:rPr>
              <a:t>Registration, login, password reset, chama creation/joining, invitations</a:t>
            </a:r>
          </a:p>
        </p:txBody>
      </p:sp>
      <p:sp>
        <p:nvSpPr>
          <p:cNvPr id="10" name="Rounded Rectangle 9"/>
          <p:cNvSpPr/>
          <p:nvPr/>
        </p:nvSpPr>
        <p:spPr>
          <a:xfrm>
            <a:off x="6217920" y="1325880"/>
            <a:ext cx="5166360" cy="182880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325880"/>
            <a:ext cx="73152" cy="182880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1490472"/>
            <a:ext cx="4800600" cy="411480"/>
          </a:xfrm>
          <a:prstGeom prst="rect">
            <a:avLst/>
          </a:prstGeom>
          <a:noFill/>
        </p:spPr>
        <p:txBody>
          <a:bodyPr wrap="none">
            <a:spAutoFit/>
          </a:bodyPr>
          <a:lstStyle/>
          <a:p>
            <a:r>
              <a:rPr b="1" sz="1700">
                <a:solidFill>
                  <a:srgbClr val="192D4B"/>
                </a:solidFill>
              </a:rPr>
              <a:t>Financial operations</a:t>
            </a:r>
          </a:p>
        </p:txBody>
      </p:sp>
      <p:sp>
        <p:nvSpPr>
          <p:cNvPr id="13" name="TextBox 12"/>
          <p:cNvSpPr txBox="1"/>
          <p:nvPr/>
        </p:nvSpPr>
        <p:spPr>
          <a:xfrm>
            <a:off x="6419088" y="1965960"/>
            <a:ext cx="4800600" cy="1051560"/>
          </a:xfrm>
          <a:prstGeom prst="rect">
            <a:avLst/>
          </a:prstGeom>
          <a:noFill/>
        </p:spPr>
        <p:txBody>
          <a:bodyPr wrap="none">
            <a:spAutoFit/>
          </a:bodyPr>
          <a:lstStyle/>
          <a:p>
            <a:r>
              <a:rPr sz="1300">
                <a:solidFill>
                  <a:srgbClr val="23282D"/>
                </a:solidFill>
              </a:rPr>
              <a:t>Contribution cycles, contributions, loan products, applications, voting, disbursement, repayments</a:t>
            </a:r>
          </a:p>
        </p:txBody>
      </p:sp>
      <p:sp>
        <p:nvSpPr>
          <p:cNvPr id="14" name="Rounded Rectangle 13"/>
          <p:cNvSpPr/>
          <p:nvPr/>
        </p:nvSpPr>
        <p:spPr>
          <a:xfrm>
            <a:off x="685800" y="3474720"/>
            <a:ext cx="5166360" cy="182880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474720"/>
            <a:ext cx="73152" cy="1828800"/>
          </a:xfrm>
          <a:prstGeom prst="rect">
            <a:avLst/>
          </a:prstGeom>
          <a:solidFill>
            <a:srgbClr val="37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639312"/>
            <a:ext cx="4800600" cy="411480"/>
          </a:xfrm>
          <a:prstGeom prst="rect">
            <a:avLst/>
          </a:prstGeom>
          <a:noFill/>
        </p:spPr>
        <p:txBody>
          <a:bodyPr wrap="none">
            <a:spAutoFit/>
          </a:bodyPr>
          <a:lstStyle/>
          <a:p>
            <a:r>
              <a:rPr b="1" sz="1700">
                <a:solidFill>
                  <a:srgbClr val="192D4B"/>
                </a:solidFill>
              </a:rPr>
              <a:t>Governance &amp; communication</a:t>
            </a:r>
          </a:p>
        </p:txBody>
      </p:sp>
      <p:sp>
        <p:nvSpPr>
          <p:cNvPr id="17" name="TextBox 16"/>
          <p:cNvSpPr txBox="1"/>
          <p:nvPr/>
        </p:nvSpPr>
        <p:spPr>
          <a:xfrm>
            <a:off x="886968" y="4114800"/>
            <a:ext cx="4800600" cy="1051560"/>
          </a:xfrm>
          <a:prstGeom prst="rect">
            <a:avLst/>
          </a:prstGeom>
          <a:noFill/>
        </p:spPr>
        <p:txBody>
          <a:bodyPr wrap="none">
            <a:spAutoFit/>
          </a:bodyPr>
          <a:lstStyle/>
          <a:p>
            <a:r>
              <a:rPr sz="1300">
                <a:solidFill>
                  <a:srgbClr val="23282D"/>
                </a:solidFill>
              </a:rPr>
              <a:t>Meetings, attendance, minutes, action items, notifications</a:t>
            </a:r>
          </a:p>
        </p:txBody>
      </p:sp>
      <p:sp>
        <p:nvSpPr>
          <p:cNvPr id="18" name="Rounded Rectangle 17"/>
          <p:cNvSpPr/>
          <p:nvPr/>
        </p:nvSpPr>
        <p:spPr>
          <a:xfrm>
            <a:off x="6217920" y="3474720"/>
            <a:ext cx="5166360" cy="182880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474720"/>
            <a:ext cx="73152" cy="1828800"/>
          </a:xfrm>
          <a:prstGeom prst="rect">
            <a:avLst/>
          </a:prstGeom>
          <a:solidFill>
            <a:srgbClr val="AF7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3639312"/>
            <a:ext cx="4800600" cy="411480"/>
          </a:xfrm>
          <a:prstGeom prst="rect">
            <a:avLst/>
          </a:prstGeom>
          <a:noFill/>
        </p:spPr>
        <p:txBody>
          <a:bodyPr wrap="none">
            <a:spAutoFit/>
          </a:bodyPr>
          <a:lstStyle/>
          <a:p>
            <a:r>
              <a:rPr b="1" sz="1700">
                <a:solidFill>
                  <a:srgbClr val="192D4B"/>
                </a:solidFill>
              </a:rPr>
              <a:t>Decision &amp; reporting</a:t>
            </a:r>
          </a:p>
        </p:txBody>
      </p:sp>
      <p:sp>
        <p:nvSpPr>
          <p:cNvPr id="21" name="TextBox 20"/>
          <p:cNvSpPr txBox="1"/>
          <p:nvPr/>
        </p:nvSpPr>
        <p:spPr>
          <a:xfrm>
            <a:off x="6419088" y="4114800"/>
            <a:ext cx="4800600" cy="1051560"/>
          </a:xfrm>
          <a:prstGeom prst="rect">
            <a:avLst/>
          </a:prstGeom>
          <a:noFill/>
        </p:spPr>
        <p:txBody>
          <a:bodyPr wrap="none">
            <a:spAutoFit/>
          </a:bodyPr>
          <a:lstStyle/>
          <a:p>
            <a:r>
              <a:rPr sz="1300">
                <a:solidFill>
                  <a:srgbClr val="23282D"/>
                </a:solidFill>
              </a:rPr>
              <a:t>Credit scoring, dashboards, reports, exports, member summaries, settings</a:t>
            </a:r>
          </a:p>
        </p:txBody>
      </p:sp>
      <p:sp>
        <p:nvSpPr>
          <p:cNvPr id="22" name="TextBox 21"/>
          <p:cNvSpPr txBox="1"/>
          <p:nvPr/>
        </p:nvSpPr>
        <p:spPr>
          <a:xfrm>
            <a:off x="777240" y="5623560"/>
            <a:ext cx="10698480" cy="502920"/>
          </a:xfrm>
          <a:prstGeom prst="rect">
            <a:avLst/>
          </a:prstGeom>
          <a:noFill/>
        </p:spPr>
        <p:txBody>
          <a:bodyPr wrap="none">
            <a:spAutoFit/>
          </a:bodyPr>
          <a:lstStyle/>
          <a:p>
            <a:pPr algn="ctr"/>
            <a:r>
              <a:rPr sz="1100">
                <a:solidFill>
                  <a:srgbClr val="69737D"/>
                </a:solidFill>
              </a:rPr>
              <a:t>Prototype exclusions: direct M-Pesa/payment gateway, direct SMS/email providers, full web admin portal, national-scale production deployment.</a:t>
            </a:r>
          </a:p>
        </p:txBody>
      </p:sp>
      <p:sp>
        <p:nvSpPr>
          <p:cNvPr id="23" name="TextBox 22"/>
          <p:cNvSpPr txBox="1"/>
          <p:nvPr/>
        </p:nvSpPr>
        <p:spPr>
          <a:xfrm>
            <a:off x="594360" y="6473952"/>
            <a:ext cx="10789920" cy="201168"/>
          </a:xfrm>
          <a:prstGeom prst="rect">
            <a:avLst/>
          </a:prstGeom>
          <a:noFill/>
        </p:spPr>
        <p:txBody>
          <a:bodyPr wrap="none">
            <a:spAutoFit/>
          </a:bodyPr>
          <a:lstStyle/>
          <a:p>
            <a:pPr algn="r"/>
            <a:r>
              <a:rPr sz="800">
                <a:solidFill>
                  <a:srgbClr val="69737D"/>
                </a:solidFill>
              </a:rPr>
              <a:t>ChamaPlus | Mount Kenya University | 2025/2026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972800" cy="502920"/>
          </a:xfrm>
          <a:prstGeom prst="rect">
            <a:avLst/>
          </a:prstGeom>
          <a:noFill/>
        </p:spPr>
        <p:txBody>
          <a:bodyPr wrap="none">
            <a:spAutoFit/>
          </a:bodyPr>
          <a:lstStyle/>
          <a:p>
            <a:r>
              <a:rPr sz="2700" b="1">
                <a:solidFill>
                  <a:srgbClr val="192D4B"/>
                </a:solidFill>
              </a:rPr>
              <a:t>9. Testing and Current Validation</a:t>
            </a:r>
          </a:p>
        </p:txBody>
      </p:sp>
      <p:sp>
        <p:nvSpPr>
          <p:cNvPr id="5" name="TextBox 4"/>
          <p:cNvSpPr txBox="1"/>
          <p:nvPr/>
        </p:nvSpPr>
        <p:spPr>
          <a:xfrm>
            <a:off x="612648" y="841248"/>
            <a:ext cx="10789920" cy="365760"/>
          </a:xfrm>
          <a:prstGeom prst="rect">
            <a:avLst/>
          </a:prstGeom>
          <a:noFill/>
        </p:spPr>
        <p:txBody>
          <a:bodyPr wrap="none">
            <a:spAutoFit/>
          </a:bodyPr>
          <a:lstStyle/>
          <a:p>
            <a:r>
              <a:rPr sz="1200">
                <a:solidFill>
                  <a:srgbClr val="69737D"/>
                </a:solidFill>
              </a:rPr>
              <a:t>Evidence that the prototype was exercised</a:t>
            </a:r>
          </a:p>
        </p:txBody>
      </p:sp>
      <p:sp>
        <p:nvSpPr>
          <p:cNvPr id="6" name="Rounded Rectangle 5"/>
          <p:cNvSpPr/>
          <p:nvPr/>
        </p:nvSpPr>
        <p:spPr>
          <a:xfrm>
            <a:off x="822960" y="1417320"/>
            <a:ext cx="3154680" cy="1508760"/>
          </a:xfrm>
          <a:prstGeom prst="roundRect">
            <a:avLst/>
          </a:prstGeom>
          <a:solidFill>
            <a:srgbClr val="F2F5F8"/>
          </a:solidFill>
          <a:ln>
            <a:solidFill>
              <a:srgbClr val="D7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27632"/>
            <a:ext cx="2971800" cy="502920"/>
          </a:xfrm>
          <a:prstGeom prst="rect">
            <a:avLst/>
          </a:prstGeom>
          <a:noFill/>
        </p:spPr>
        <p:txBody>
          <a:bodyPr wrap="none">
            <a:spAutoFit/>
          </a:bodyPr>
          <a:lstStyle/>
          <a:p>
            <a:pPr algn="ctr"/>
            <a:r>
              <a:rPr sz="3100" b="1">
                <a:solidFill>
                  <a:srgbClr val="192D4B"/>
                </a:solidFill>
              </a:rPr>
              <a:t>124</a:t>
            </a:r>
          </a:p>
        </p:txBody>
      </p:sp>
      <p:sp>
        <p:nvSpPr>
          <p:cNvPr id="8" name="TextBox 7"/>
          <p:cNvSpPr txBox="1"/>
          <p:nvPr/>
        </p:nvSpPr>
        <p:spPr>
          <a:xfrm>
            <a:off x="960120" y="2212848"/>
            <a:ext cx="2880360" cy="411480"/>
          </a:xfrm>
          <a:prstGeom prst="rect">
            <a:avLst/>
          </a:prstGeom>
          <a:noFill/>
        </p:spPr>
        <p:txBody>
          <a:bodyPr wrap="none">
            <a:spAutoFit/>
          </a:bodyPr>
          <a:lstStyle/>
          <a:p>
            <a:pPr algn="ctr"/>
            <a:r>
              <a:rPr sz="1200">
                <a:solidFill>
                  <a:srgbClr val="23282D"/>
                </a:solidFill>
              </a:rPr>
              <a:t>Backend automated tests</a:t>
            </a:r>
          </a:p>
        </p:txBody>
      </p:sp>
      <p:sp>
        <p:nvSpPr>
          <p:cNvPr id="9" name="Rounded Rectangle 8"/>
          <p:cNvSpPr/>
          <p:nvPr/>
        </p:nvSpPr>
        <p:spPr>
          <a:xfrm>
            <a:off x="4572000" y="1417320"/>
            <a:ext cx="3154680" cy="1508760"/>
          </a:xfrm>
          <a:prstGeom prst="roundRect">
            <a:avLst/>
          </a:prstGeom>
          <a:solidFill>
            <a:srgbClr val="F2F5F8"/>
          </a:solidFill>
          <a:ln>
            <a:solidFill>
              <a:srgbClr val="D7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627632"/>
            <a:ext cx="2971800" cy="502920"/>
          </a:xfrm>
          <a:prstGeom prst="rect">
            <a:avLst/>
          </a:prstGeom>
          <a:noFill/>
        </p:spPr>
        <p:txBody>
          <a:bodyPr wrap="none">
            <a:spAutoFit/>
          </a:bodyPr>
          <a:lstStyle/>
          <a:p>
            <a:pPr algn="ctr"/>
            <a:r>
              <a:rPr sz="3100" b="1">
                <a:solidFill>
                  <a:srgbClr val="192D4B"/>
                </a:solidFill>
              </a:rPr>
              <a:t>244</a:t>
            </a:r>
          </a:p>
        </p:txBody>
      </p:sp>
      <p:sp>
        <p:nvSpPr>
          <p:cNvPr id="11" name="TextBox 10"/>
          <p:cNvSpPr txBox="1"/>
          <p:nvPr/>
        </p:nvSpPr>
        <p:spPr>
          <a:xfrm>
            <a:off x="4709160" y="2212848"/>
            <a:ext cx="2880360" cy="411480"/>
          </a:xfrm>
          <a:prstGeom prst="rect">
            <a:avLst/>
          </a:prstGeom>
          <a:noFill/>
        </p:spPr>
        <p:txBody>
          <a:bodyPr wrap="none">
            <a:spAutoFit/>
          </a:bodyPr>
          <a:lstStyle/>
          <a:p>
            <a:pPr algn="ctr"/>
            <a:r>
              <a:rPr sz="1200">
                <a:solidFill>
                  <a:srgbClr val="23282D"/>
                </a:solidFill>
              </a:rPr>
              <a:t>Mobile automated tests</a:t>
            </a:r>
          </a:p>
        </p:txBody>
      </p:sp>
      <p:sp>
        <p:nvSpPr>
          <p:cNvPr id="12" name="Rounded Rectangle 11"/>
          <p:cNvSpPr/>
          <p:nvPr/>
        </p:nvSpPr>
        <p:spPr>
          <a:xfrm>
            <a:off x="8321040" y="1417320"/>
            <a:ext cx="3154680" cy="1508760"/>
          </a:xfrm>
          <a:prstGeom prst="roundRect">
            <a:avLst/>
          </a:prstGeom>
          <a:solidFill>
            <a:srgbClr val="F2F5F8"/>
          </a:solidFill>
          <a:ln>
            <a:solidFill>
              <a:srgbClr val="D7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1627632"/>
            <a:ext cx="2971800" cy="502920"/>
          </a:xfrm>
          <a:prstGeom prst="rect">
            <a:avLst/>
          </a:prstGeom>
          <a:noFill/>
        </p:spPr>
        <p:txBody>
          <a:bodyPr wrap="none">
            <a:spAutoFit/>
          </a:bodyPr>
          <a:lstStyle/>
          <a:p>
            <a:pPr algn="ctr"/>
            <a:r>
              <a:rPr sz="3100" b="1">
                <a:solidFill>
                  <a:srgbClr val="192D4B"/>
                </a:solidFill>
              </a:rPr>
              <a:t>15</a:t>
            </a:r>
          </a:p>
        </p:txBody>
      </p:sp>
      <p:sp>
        <p:nvSpPr>
          <p:cNvPr id="14" name="TextBox 13"/>
          <p:cNvSpPr txBox="1"/>
          <p:nvPr/>
        </p:nvSpPr>
        <p:spPr>
          <a:xfrm>
            <a:off x="8458200" y="2212848"/>
            <a:ext cx="2880360" cy="411480"/>
          </a:xfrm>
          <a:prstGeom prst="rect">
            <a:avLst/>
          </a:prstGeom>
          <a:noFill/>
        </p:spPr>
        <p:txBody>
          <a:bodyPr wrap="none">
            <a:spAutoFit/>
          </a:bodyPr>
          <a:lstStyle/>
          <a:p>
            <a:pPr algn="ctr"/>
            <a:r>
              <a:rPr sz="1200">
                <a:solidFill>
                  <a:srgbClr val="23282D"/>
                </a:solidFill>
              </a:rPr>
              <a:t>Representative functional test cases</a:t>
            </a:r>
          </a:p>
        </p:txBody>
      </p:sp>
      <p:sp>
        <p:nvSpPr>
          <p:cNvPr id="15" name="Rounded Rectangle 14"/>
          <p:cNvSpPr/>
          <p:nvPr/>
        </p:nvSpPr>
        <p:spPr>
          <a:xfrm>
            <a:off x="914400" y="3429000"/>
            <a:ext cx="10287000" cy="15087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 y="3429000"/>
            <a:ext cx="73152" cy="1508760"/>
          </a:xfrm>
          <a:prstGeom prst="rect">
            <a:avLst/>
          </a:prstGeom>
          <a:solidFill>
            <a:srgbClr val="AF7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3593592"/>
            <a:ext cx="9921240" cy="411480"/>
          </a:xfrm>
          <a:prstGeom prst="rect">
            <a:avLst/>
          </a:prstGeom>
          <a:noFill/>
        </p:spPr>
        <p:txBody>
          <a:bodyPr wrap="none">
            <a:spAutoFit/>
          </a:bodyPr>
          <a:lstStyle/>
          <a:p>
            <a:r>
              <a:rPr b="1" sz="1700">
                <a:solidFill>
                  <a:srgbClr val="192D4B"/>
                </a:solidFill>
              </a:rPr>
              <a:t>Final test observation</a:t>
            </a:r>
          </a:p>
        </p:txBody>
      </p:sp>
      <p:sp>
        <p:nvSpPr>
          <p:cNvPr id="18" name="TextBox 17"/>
          <p:cNvSpPr txBox="1"/>
          <p:nvPr/>
        </p:nvSpPr>
        <p:spPr>
          <a:xfrm>
            <a:off x="1115568" y="4069080"/>
            <a:ext cx="9921240" cy="731519"/>
          </a:xfrm>
          <a:prstGeom prst="rect">
            <a:avLst/>
          </a:prstGeom>
          <a:noFill/>
        </p:spPr>
        <p:txBody>
          <a:bodyPr wrap="none">
            <a:spAutoFit/>
          </a:bodyPr>
          <a:lstStyle/>
          <a:p>
            <a:r>
              <a:rPr sz="1300">
                <a:solidFill>
                  <a:srgbClr val="23282D"/>
                </a:solidFill>
              </a:rPr>
              <a:t>243 of 244 mobile tests passed. One non-core report-export formatting test remained failing at final execution. Core workflows represented in the report's test cases passed.</a:t>
            </a:r>
          </a:p>
        </p:txBody>
      </p:sp>
      <p:sp>
        <p:nvSpPr>
          <p:cNvPr id="19" name="TextBox 18"/>
          <p:cNvSpPr txBox="1"/>
          <p:nvPr/>
        </p:nvSpPr>
        <p:spPr>
          <a:xfrm>
            <a:off x="594360" y="6473952"/>
            <a:ext cx="10789920" cy="201168"/>
          </a:xfrm>
          <a:prstGeom prst="rect">
            <a:avLst/>
          </a:prstGeom>
          <a:noFill/>
        </p:spPr>
        <p:txBody>
          <a:bodyPr wrap="none">
            <a:spAutoFit/>
          </a:bodyPr>
          <a:lstStyle/>
          <a:p>
            <a:pPr algn="r"/>
            <a:r>
              <a:rPr sz="800">
                <a:solidFill>
                  <a:srgbClr val="69737D"/>
                </a:solidFill>
              </a:rPr>
              <a:t>ChamaPlus | Mount Kenya University | 2025/2026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10972800" cy="502920"/>
          </a:xfrm>
          <a:prstGeom prst="rect">
            <a:avLst/>
          </a:prstGeom>
          <a:noFill/>
        </p:spPr>
        <p:txBody>
          <a:bodyPr wrap="none">
            <a:spAutoFit/>
          </a:bodyPr>
          <a:lstStyle/>
          <a:p>
            <a:r>
              <a:rPr sz="2700" b="1">
                <a:solidFill>
                  <a:srgbClr val="192D4B"/>
                </a:solidFill>
              </a:rPr>
              <a:t>10. Project Contribution</a:t>
            </a:r>
          </a:p>
        </p:txBody>
      </p:sp>
      <p:sp>
        <p:nvSpPr>
          <p:cNvPr id="5" name="TextBox 4"/>
          <p:cNvSpPr txBox="1"/>
          <p:nvPr/>
        </p:nvSpPr>
        <p:spPr>
          <a:xfrm>
            <a:off x="612648" y="841248"/>
            <a:ext cx="10789920" cy="365760"/>
          </a:xfrm>
          <a:prstGeom prst="rect">
            <a:avLst/>
          </a:prstGeom>
          <a:noFill/>
        </p:spPr>
        <p:txBody>
          <a:bodyPr wrap="none">
            <a:spAutoFit/>
          </a:bodyPr>
          <a:lstStyle/>
          <a:p>
            <a:r>
              <a:rPr sz="1200">
                <a:solidFill>
                  <a:srgbClr val="69737D"/>
                </a:solidFill>
              </a:rPr>
              <a:t>What ChamaPlus contributes</a:t>
            </a:r>
          </a:p>
        </p:txBody>
      </p:sp>
      <p:sp>
        <p:nvSpPr>
          <p:cNvPr id="6" name="Rounded Rectangle 5"/>
          <p:cNvSpPr/>
          <p:nvPr/>
        </p:nvSpPr>
        <p:spPr>
          <a:xfrm>
            <a:off x="685800" y="1371600"/>
            <a:ext cx="3474720" cy="35661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371600"/>
            <a:ext cx="73152" cy="356616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536192"/>
            <a:ext cx="3108960" cy="411480"/>
          </a:xfrm>
          <a:prstGeom prst="rect">
            <a:avLst/>
          </a:prstGeom>
          <a:noFill/>
        </p:spPr>
        <p:txBody>
          <a:bodyPr wrap="none">
            <a:spAutoFit/>
          </a:bodyPr>
          <a:lstStyle/>
          <a:p>
            <a:r>
              <a:rPr b="1" sz="1700">
                <a:solidFill>
                  <a:srgbClr val="192D4B"/>
                </a:solidFill>
              </a:rPr>
              <a:t>Operational integration</a:t>
            </a:r>
          </a:p>
        </p:txBody>
      </p:sp>
      <p:sp>
        <p:nvSpPr>
          <p:cNvPr id="9" name="TextBox 8"/>
          <p:cNvSpPr txBox="1"/>
          <p:nvPr/>
        </p:nvSpPr>
        <p:spPr>
          <a:xfrm>
            <a:off x="886968" y="2011680"/>
            <a:ext cx="3108960" cy="2788920"/>
          </a:xfrm>
          <a:prstGeom prst="rect">
            <a:avLst/>
          </a:prstGeom>
          <a:noFill/>
        </p:spPr>
        <p:txBody>
          <a:bodyPr wrap="none">
            <a:spAutoFit/>
          </a:bodyPr>
          <a:lstStyle/>
          <a:p>
            <a:r>
              <a:rPr sz="1300">
                <a:solidFill>
                  <a:srgbClr val="23282D"/>
                </a:solidFill>
              </a:rPr>
              <a:t>Connects membership, savings, lending, governance and reporting in one mobile environment.</a:t>
            </a:r>
          </a:p>
        </p:txBody>
      </p:sp>
      <p:sp>
        <p:nvSpPr>
          <p:cNvPr id="10" name="Rounded Rectangle 9"/>
          <p:cNvSpPr/>
          <p:nvPr/>
        </p:nvSpPr>
        <p:spPr>
          <a:xfrm>
            <a:off x="4370832" y="1371600"/>
            <a:ext cx="3474720" cy="35661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1371600"/>
            <a:ext cx="73152" cy="356616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536192"/>
            <a:ext cx="3108960" cy="411480"/>
          </a:xfrm>
          <a:prstGeom prst="rect">
            <a:avLst/>
          </a:prstGeom>
          <a:noFill/>
        </p:spPr>
        <p:txBody>
          <a:bodyPr wrap="none">
            <a:spAutoFit/>
          </a:bodyPr>
          <a:lstStyle/>
          <a:p>
            <a:r>
              <a:rPr b="1" sz="1700">
                <a:solidFill>
                  <a:srgbClr val="192D4B"/>
                </a:solidFill>
              </a:rPr>
              <a:t>Decision support</a:t>
            </a:r>
          </a:p>
        </p:txBody>
      </p:sp>
      <p:sp>
        <p:nvSpPr>
          <p:cNvPr id="13" name="TextBox 12"/>
          <p:cNvSpPr txBox="1"/>
          <p:nvPr/>
        </p:nvSpPr>
        <p:spPr>
          <a:xfrm>
            <a:off x="4572000" y="2011680"/>
            <a:ext cx="3108960" cy="2788920"/>
          </a:xfrm>
          <a:prstGeom prst="rect">
            <a:avLst/>
          </a:prstGeom>
          <a:noFill/>
        </p:spPr>
        <p:txBody>
          <a:bodyPr wrap="none">
            <a:spAutoFit/>
          </a:bodyPr>
          <a:lstStyle/>
          <a:p>
            <a:r>
              <a:rPr sz="1300">
                <a:solidFill>
                  <a:srgbClr val="23282D"/>
                </a:solidFill>
              </a:rPr>
              <a:t>Uses recorded contribution, repayment, attendance and membership information to produce an advisory credit view.</a:t>
            </a:r>
          </a:p>
        </p:txBody>
      </p:sp>
      <p:sp>
        <p:nvSpPr>
          <p:cNvPr id="14" name="Rounded Rectangle 13"/>
          <p:cNvSpPr/>
          <p:nvPr/>
        </p:nvSpPr>
        <p:spPr>
          <a:xfrm>
            <a:off x="8055864" y="1371600"/>
            <a:ext cx="3474720" cy="35661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5864" y="1371600"/>
            <a:ext cx="73152" cy="3566160"/>
          </a:xfrm>
          <a:prstGeom prst="rect">
            <a:avLst/>
          </a:prstGeom>
          <a:solidFill>
            <a:srgbClr val="37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2" y="1536192"/>
            <a:ext cx="3108960" cy="411480"/>
          </a:xfrm>
          <a:prstGeom prst="rect">
            <a:avLst/>
          </a:prstGeom>
          <a:noFill/>
        </p:spPr>
        <p:txBody>
          <a:bodyPr wrap="none">
            <a:spAutoFit/>
          </a:bodyPr>
          <a:lstStyle/>
          <a:p>
            <a:r>
              <a:rPr b="1" sz="1700">
                <a:solidFill>
                  <a:srgbClr val="192D4B"/>
                </a:solidFill>
              </a:rPr>
              <a:t>Controlled access</a:t>
            </a:r>
          </a:p>
        </p:txBody>
      </p:sp>
      <p:sp>
        <p:nvSpPr>
          <p:cNvPr id="17" name="TextBox 16"/>
          <p:cNvSpPr txBox="1"/>
          <p:nvPr/>
        </p:nvSpPr>
        <p:spPr>
          <a:xfrm>
            <a:off x="8257032" y="2011680"/>
            <a:ext cx="3108960" cy="2788920"/>
          </a:xfrm>
          <a:prstGeom prst="rect">
            <a:avLst/>
          </a:prstGeom>
          <a:noFill/>
        </p:spPr>
        <p:txBody>
          <a:bodyPr wrap="none">
            <a:spAutoFit/>
          </a:bodyPr>
          <a:lstStyle/>
          <a:p>
            <a:r>
              <a:rPr sz="1300">
                <a:solidFill>
                  <a:srgbClr val="23282D"/>
                </a:solidFill>
              </a:rPr>
              <a:t>Uses authentication and role-based permissions so financial and administrative functions are restricted to appropriate users.</a:t>
            </a:r>
          </a:p>
        </p:txBody>
      </p:sp>
      <p:sp>
        <p:nvSpPr>
          <p:cNvPr id="18" name="TextBox 17"/>
          <p:cNvSpPr txBox="1"/>
          <p:nvPr/>
        </p:nvSpPr>
        <p:spPr>
          <a:xfrm>
            <a:off x="594360" y="6473952"/>
            <a:ext cx="10789920" cy="201168"/>
          </a:xfrm>
          <a:prstGeom prst="rect">
            <a:avLst/>
          </a:prstGeom>
          <a:noFill/>
        </p:spPr>
        <p:txBody>
          <a:bodyPr wrap="none">
            <a:spAutoFit/>
          </a:bodyPr>
          <a:lstStyle/>
          <a:p>
            <a:pPr algn="r"/>
            <a:r>
              <a:rPr sz="800">
                <a:solidFill>
                  <a:srgbClr val="69737D"/>
                </a:solidFill>
              </a:rPr>
              <a:t>ChamaPlus | Mount Kenya University | 2025/2026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25880"/>
            <a:ext cx="10515600" cy="914400"/>
          </a:xfrm>
          <a:prstGeom prst="rect">
            <a:avLst/>
          </a:prstGeom>
          <a:noFill/>
        </p:spPr>
        <p:txBody>
          <a:bodyPr wrap="none">
            <a:spAutoFit/>
          </a:bodyPr>
          <a:lstStyle/>
          <a:p>
            <a:pPr algn="ctr"/>
            <a:r>
              <a:rPr sz="2600">
                <a:solidFill>
                  <a:srgbClr val="69737D"/>
                </a:solidFill>
              </a:rPr>
              <a:t>From the problem and design…</a:t>
            </a:r>
          </a:p>
        </p:txBody>
      </p:sp>
      <p:sp>
        <p:nvSpPr>
          <p:cNvPr id="5" name="TextBox 4"/>
          <p:cNvSpPr txBox="1"/>
          <p:nvPr/>
        </p:nvSpPr>
        <p:spPr>
          <a:xfrm>
            <a:off x="822960" y="2148840"/>
            <a:ext cx="10515600" cy="914400"/>
          </a:xfrm>
          <a:prstGeom prst="rect">
            <a:avLst/>
          </a:prstGeom>
          <a:noFill/>
        </p:spPr>
        <p:txBody>
          <a:bodyPr wrap="none">
            <a:spAutoFit/>
          </a:bodyPr>
          <a:lstStyle/>
          <a:p>
            <a:pPr algn="ctr"/>
            <a:r>
              <a:rPr sz="3400" b="1">
                <a:solidFill>
                  <a:srgbClr val="192D4B"/>
                </a:solidFill>
              </a:rPr>
              <a:t>…to the implemented product.</a:t>
            </a:r>
          </a:p>
        </p:txBody>
      </p:sp>
      <p:sp>
        <p:nvSpPr>
          <p:cNvPr id="6" name="TextBox 5"/>
          <p:cNvSpPr txBox="1"/>
          <p:nvPr/>
        </p:nvSpPr>
        <p:spPr>
          <a:xfrm>
            <a:off x="1645920" y="3383280"/>
            <a:ext cx="8869680" cy="914400"/>
          </a:xfrm>
          <a:prstGeom prst="rect">
            <a:avLst/>
          </a:prstGeom>
          <a:noFill/>
        </p:spPr>
        <p:txBody>
          <a:bodyPr wrap="none">
            <a:spAutoFit/>
          </a:bodyPr>
          <a:lstStyle/>
          <a:p>
            <a:r>
              <a:t>Demo order: Login → Membership → Contributions → Loans → Credit Score → Governance → Reports</a:t>
            </a:r>
          </a:p>
          <a:p/>
          <a:p>
            <a:r>
              <a:t>I will now demonstrate how ChamaPlus translates these design decisions into actual user workflows.</a:t>
            </a:r>
          </a:p>
        </p:txBody>
      </p:sp>
      <p:sp>
        <p:nvSpPr>
          <p:cNvPr id="7" name="TextBox 6"/>
          <p:cNvSpPr txBox="1"/>
          <p:nvPr/>
        </p:nvSpPr>
        <p:spPr>
          <a:xfrm>
            <a:off x="594360" y="6473952"/>
            <a:ext cx="10789920" cy="201168"/>
          </a:xfrm>
          <a:prstGeom prst="rect">
            <a:avLst/>
          </a:prstGeom>
          <a:noFill/>
        </p:spPr>
        <p:txBody>
          <a:bodyPr wrap="none">
            <a:spAutoFit/>
          </a:bodyPr>
          <a:lstStyle/>
          <a:p>
            <a:pPr algn="r"/>
            <a:r>
              <a:rPr sz="800">
                <a:solidFill>
                  <a:srgbClr val="69737D"/>
                </a:solidFill>
              </a:rPr>
              <a:t>ChamaPlus | Product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